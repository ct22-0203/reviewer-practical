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89.xml"/>
  <Override ContentType="application/vnd.openxmlformats-officedocument.presentationml.slide+xml" PartName="/ppt/slides/slide90.xml"/>
  <Override ContentType="application/vnd.openxmlformats-officedocument.presentationml.slide+xml" PartName="/ppt/slides/slide91.xml"/>
  <Override ContentType="application/vnd.openxmlformats-officedocument.presentationml.slide+xml" PartName="/ppt/slides/slide92.xml"/>
  <Override ContentType="application/vnd.openxmlformats-officedocument.presentationml.slide+xml" PartName="/ppt/slides/slide93.xml"/>
  <Override ContentType="application/vnd.openxmlformats-officedocument.presentationml.slide+xml" PartName="/ppt/slides/slide94.xml"/>
  <Override ContentType="application/vnd.openxmlformats-officedocument.presentationml.slide+xml" PartName="/ppt/slides/slide95.xml"/>
  <Override ContentType="application/vnd.openxmlformats-officedocument.presentationml.slide+xml" PartName="/ppt/slides/slide96.xml"/>
  <Override ContentType="application/vnd.openxmlformats-officedocument.presentationml.slide+xml" PartName="/ppt/slides/slide97.xml"/>
  <Override ContentType="application/vnd.openxmlformats-officedocument.presentationml.slide+xml" PartName="/ppt/slides/slide98.xml"/>
  <Override ContentType="application/vnd.openxmlformats-officedocument.presentationml.slide+xml" PartName="/ppt/slides/slide99.xml"/>
  <Override ContentType="application/vnd.openxmlformats-officedocument.presentationml.slide+xml" PartName="/ppt/slides/slide100.xml"/>
  <Override ContentType="application/vnd.openxmlformats-officedocument.presentationml.slide+xml" PartName="/ppt/slides/slide101.xml"/>
  <Override ContentType="application/vnd.openxmlformats-officedocument.presentationml.slide+xml" PartName="/ppt/slides/slide102.xml"/>
  <Override ContentType="application/vnd.openxmlformats-officedocument.presentationml.slide+xml" PartName="/ppt/slides/slide103.xml"/>
  <Override ContentType="application/vnd.openxmlformats-officedocument.presentationml.slide+xml" PartName="/ppt/slides/slide104.xml"/>
  <Override ContentType="application/vnd.openxmlformats-officedocument.presentationml.slide+xml" PartName="/ppt/slides/slide105.xml"/>
  <Override ContentType="application/vnd.openxmlformats-officedocument.presentationml.slide+xml" PartName="/ppt/slides/slide106.xml"/>
  <Override ContentType="application/vnd.openxmlformats-officedocument.presentationml.slide+xml" PartName="/ppt/slides/slide107.xml"/>
  <Override ContentType="application/vnd.openxmlformats-officedocument.presentationml.slide+xml" PartName="/ppt/slides/slide108.xml"/>
  <Override ContentType="application/vnd.openxmlformats-officedocument.presentationml.slide+xml" PartName="/ppt/slides/slide109.xml"/>
  <Override ContentType="application/vnd.openxmlformats-officedocument.presentationml.slide+xml" PartName="/ppt/slides/slide110.xml"/>
  <Override ContentType="application/vnd.openxmlformats-officedocument.presentationml.slide+xml" PartName="/ppt/slides/slide111.xml"/>
  <Override ContentType="application/vnd.openxmlformats-officedocument.presentationml.slide+xml" PartName="/ppt/slides/slide112.xml"/>
  <Override ContentType="application/vnd.openxmlformats-officedocument.presentationml.slide+xml" PartName="/ppt/slides/slide113.xml"/>
  <Override ContentType="application/vnd.openxmlformats-officedocument.presentationml.slide+xml" PartName="/ppt/slides/slide114.xml"/>
  <Override ContentType="application/vnd.openxmlformats-officedocument.presentationml.slide+xml" PartName="/ppt/slides/slide115.xml"/>
  <Override ContentType="application/vnd.openxmlformats-officedocument.presentationml.slide+xml" PartName="/ppt/slides/slide116.xml"/>
  <Override ContentType="application/vnd.openxmlformats-officedocument.presentationml.slide+xml" PartName="/ppt/slides/slide117.xml"/>
  <Override ContentType="application/vnd.openxmlformats-officedocument.presentationml.slide+xml" PartName="/ppt/slides/slide118.xml"/>
  <Override ContentType="application/vnd.openxmlformats-officedocument.presentationml.slide+xml" PartName="/ppt/slides/slide119.xml"/>
  <Override ContentType="application/vnd.openxmlformats-officedocument.presentationml.slide+xml" PartName="/ppt/slides/slide120.xml"/>
  <Override ContentType="application/vnd.openxmlformats-officedocument.presentationml.slide+xml" PartName="/ppt/slides/slide1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</p:sldIdLst>
  <p:sldSz cx="18288000" cy="10287000"/>
  <p:notesSz cx="6858000" cy="9144000"/>
  <p:embeddedFontLst>
    <p:embeddedFont>
      <p:font typeface="Bebas Neue Bold" charset="1" panose="020B0606020202050201"/>
      <p:regular r:id="rId127"/>
    </p:embeddedFont>
    <p:embeddedFont>
      <p:font typeface="TT Fors" charset="1" panose="020B0003030001020000"/>
      <p:regular r:id="rId128"/>
    </p:embeddedFont>
    <p:embeddedFont>
      <p:font typeface="TT Fors Bold" charset="1" panose="020B0003030001020000"/>
      <p:regular r:id="rId1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slides/slide95.xml" Type="http://schemas.openxmlformats.org/officeDocument/2006/relationships/slide"/><Relationship Id="rId101" Target="slides/slide96.xml" Type="http://schemas.openxmlformats.org/officeDocument/2006/relationships/slide"/><Relationship Id="rId102" Target="slides/slide97.xml" Type="http://schemas.openxmlformats.org/officeDocument/2006/relationships/slide"/><Relationship Id="rId103" Target="slides/slide98.xml" Type="http://schemas.openxmlformats.org/officeDocument/2006/relationships/slide"/><Relationship Id="rId104" Target="slides/slide99.xml" Type="http://schemas.openxmlformats.org/officeDocument/2006/relationships/slide"/><Relationship Id="rId105" Target="slides/slide100.xml" Type="http://schemas.openxmlformats.org/officeDocument/2006/relationships/slide"/><Relationship Id="rId106" Target="slides/slide101.xml" Type="http://schemas.openxmlformats.org/officeDocument/2006/relationships/slide"/><Relationship Id="rId107" Target="slides/slide102.xml" Type="http://schemas.openxmlformats.org/officeDocument/2006/relationships/slide"/><Relationship Id="rId108" Target="slides/slide103.xml" Type="http://schemas.openxmlformats.org/officeDocument/2006/relationships/slide"/><Relationship Id="rId109" Target="slides/slide104.xml" Type="http://schemas.openxmlformats.org/officeDocument/2006/relationships/slide"/><Relationship Id="rId11" Target="slides/slide6.xml" Type="http://schemas.openxmlformats.org/officeDocument/2006/relationships/slide"/><Relationship Id="rId110" Target="slides/slide105.xml" Type="http://schemas.openxmlformats.org/officeDocument/2006/relationships/slide"/><Relationship Id="rId111" Target="slides/slide106.xml" Type="http://schemas.openxmlformats.org/officeDocument/2006/relationships/slide"/><Relationship Id="rId112" Target="slides/slide107.xml" Type="http://schemas.openxmlformats.org/officeDocument/2006/relationships/slide"/><Relationship Id="rId113" Target="slides/slide108.xml" Type="http://schemas.openxmlformats.org/officeDocument/2006/relationships/slide"/><Relationship Id="rId114" Target="slides/slide109.xml" Type="http://schemas.openxmlformats.org/officeDocument/2006/relationships/slide"/><Relationship Id="rId115" Target="slides/slide110.xml" Type="http://schemas.openxmlformats.org/officeDocument/2006/relationships/slide"/><Relationship Id="rId116" Target="slides/slide111.xml" Type="http://schemas.openxmlformats.org/officeDocument/2006/relationships/slide"/><Relationship Id="rId117" Target="slides/slide112.xml" Type="http://schemas.openxmlformats.org/officeDocument/2006/relationships/slide"/><Relationship Id="rId118" Target="slides/slide113.xml" Type="http://schemas.openxmlformats.org/officeDocument/2006/relationships/slide"/><Relationship Id="rId119" Target="slides/slide114.xml" Type="http://schemas.openxmlformats.org/officeDocument/2006/relationships/slide"/><Relationship Id="rId12" Target="slides/slide7.xml" Type="http://schemas.openxmlformats.org/officeDocument/2006/relationships/slide"/><Relationship Id="rId120" Target="slides/slide115.xml" Type="http://schemas.openxmlformats.org/officeDocument/2006/relationships/slide"/><Relationship Id="rId121" Target="slides/slide116.xml" Type="http://schemas.openxmlformats.org/officeDocument/2006/relationships/slide"/><Relationship Id="rId122" Target="slides/slide117.xml" Type="http://schemas.openxmlformats.org/officeDocument/2006/relationships/slide"/><Relationship Id="rId123" Target="slides/slide118.xml" Type="http://schemas.openxmlformats.org/officeDocument/2006/relationships/slide"/><Relationship Id="rId124" Target="slides/slide119.xml" Type="http://schemas.openxmlformats.org/officeDocument/2006/relationships/slide"/><Relationship Id="rId125" Target="slides/slide120.xml" Type="http://schemas.openxmlformats.org/officeDocument/2006/relationships/slide"/><Relationship Id="rId126" Target="slides/slide121.xml" Type="http://schemas.openxmlformats.org/officeDocument/2006/relationships/slide"/><Relationship Id="rId127" Target="fonts/font127.fntdata" Type="http://schemas.openxmlformats.org/officeDocument/2006/relationships/font"/><Relationship Id="rId128" Target="fonts/font128.fntdata" Type="http://schemas.openxmlformats.org/officeDocument/2006/relationships/font"/><Relationship Id="rId129" Target="fonts/font129.fntdata" Type="http://schemas.openxmlformats.org/officeDocument/2006/relationships/font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slides/slide83.xml" Type="http://schemas.openxmlformats.org/officeDocument/2006/relationships/slide"/><Relationship Id="rId89" Target="slides/slide84.xml" Type="http://schemas.openxmlformats.org/officeDocument/2006/relationships/slide"/><Relationship Id="rId9" Target="slides/slide4.xml" Type="http://schemas.openxmlformats.org/officeDocument/2006/relationships/slide"/><Relationship Id="rId90" Target="slides/slide85.xml" Type="http://schemas.openxmlformats.org/officeDocument/2006/relationships/slide"/><Relationship Id="rId91" Target="slides/slide86.xml" Type="http://schemas.openxmlformats.org/officeDocument/2006/relationships/slide"/><Relationship Id="rId92" Target="slides/slide87.xml" Type="http://schemas.openxmlformats.org/officeDocument/2006/relationships/slide"/><Relationship Id="rId93" Target="slides/slide88.xml" Type="http://schemas.openxmlformats.org/officeDocument/2006/relationships/slide"/><Relationship Id="rId94" Target="slides/slide89.xml" Type="http://schemas.openxmlformats.org/officeDocument/2006/relationships/slide"/><Relationship Id="rId95" Target="slides/slide90.xml" Type="http://schemas.openxmlformats.org/officeDocument/2006/relationships/slide"/><Relationship Id="rId96" Target="slides/slide91.xml" Type="http://schemas.openxmlformats.org/officeDocument/2006/relationships/slide"/><Relationship Id="rId97" Target="slides/slide92.xml" Type="http://schemas.openxmlformats.org/officeDocument/2006/relationships/slide"/><Relationship Id="rId98" Target="slides/slide93.xml" Type="http://schemas.openxmlformats.org/officeDocument/2006/relationships/slide"/><Relationship Id="rId99" Target="slides/slide9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3.png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5.png" Type="http://schemas.openxmlformats.org/officeDocument/2006/relationships/image"/></Relationships>
</file>

<file path=ppt/slides/_rels/slide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8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8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9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9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7.png" Type="http://schemas.openxmlformats.org/officeDocument/2006/relationships/image"/></Relationships>
</file>

<file path=ppt/slides/_rels/slide9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9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9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9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9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9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9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8.png" Type="http://schemas.openxmlformats.org/officeDocument/2006/relationships/image"/></Relationships>
</file>

<file path=ppt/slides/_rels/slide9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0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10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50.png" Type="http://schemas.openxmlformats.org/officeDocument/2006/relationships/image"/></Relationships>
</file>

<file path=ppt/slides/_rels/slide10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51.png" Type="http://schemas.openxmlformats.org/officeDocument/2006/relationships/image"/></Relationships>
</file>

<file path=ppt/slides/_rels/slide10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0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0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52.png" Type="http://schemas.openxmlformats.org/officeDocument/2006/relationships/image"/></Relationships>
</file>

<file path=ppt/slides/_rels/slide10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53.png" Type="http://schemas.openxmlformats.org/officeDocument/2006/relationships/image"/></Relationships>
</file>

<file path=ppt/slides/_rels/slide10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0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0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54.png" Type="http://schemas.openxmlformats.org/officeDocument/2006/relationships/image"/></Relationships>
</file>

<file path=ppt/slides/_rels/slide1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55.png" Type="http://schemas.openxmlformats.org/officeDocument/2006/relationships/image"/></Relationships>
</file>

<file path=ppt/slides/_rels/slide1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56.png" Type="http://schemas.openxmlformats.org/officeDocument/2006/relationships/image"/></Relationships>
</file>

<file path=ppt/slides/_rels/slide1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57.png" Type="http://schemas.openxmlformats.org/officeDocument/2006/relationships/image"/></Relationships>
</file>

<file path=ppt/slides/_rels/slide1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/Relationships>
</file>

<file path=ppt/slides/_rels/slide1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62.jpeg" Type="http://schemas.openxmlformats.org/officeDocument/2006/relationships/image"/><Relationship Id="rId5" Target="../media/image63.png" Type="http://schemas.openxmlformats.org/officeDocument/2006/relationships/image"/><Relationship Id="rId6" Target="../media/image6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6518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4" y="0"/>
                </a:lnTo>
                <a:lnTo>
                  <a:pt x="8732754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16760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79057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046" t="0" r="-25046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3213810"/>
            <a:ext cx="9602250" cy="418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73"/>
              </a:lnSpc>
            </a:pPr>
            <a:r>
              <a:rPr lang="en-US" sz="16134" spc="-322" b="true">
                <a:solidFill>
                  <a:srgbClr val="F6F6E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 basics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502700" y="-4791631"/>
            <a:ext cx="4598385" cy="6853961"/>
          </a:xfrm>
          <a:custGeom>
            <a:avLst/>
            <a:gdLst/>
            <a:ahLst/>
            <a:cxnLst/>
            <a:rect r="r" b="b" t="t" l="l"/>
            <a:pathLst>
              <a:path h="6853961" w="4598385">
                <a:moveTo>
                  <a:pt x="0" y="0"/>
                </a:moveTo>
                <a:lnTo>
                  <a:pt x="4598385" y="0"/>
                </a:lnTo>
                <a:lnTo>
                  <a:pt x="4598385" y="6853962"/>
                </a:lnTo>
                <a:lnTo>
                  <a:pt x="0" y="6853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43591" y="8957310"/>
            <a:ext cx="3321592" cy="4950883"/>
          </a:xfrm>
          <a:custGeom>
            <a:avLst/>
            <a:gdLst/>
            <a:ahLst/>
            <a:cxnLst/>
            <a:rect r="r" b="b" t="t" l="l"/>
            <a:pathLst>
              <a:path h="4950883" w="3321592">
                <a:moveTo>
                  <a:pt x="0" y="0"/>
                </a:moveTo>
                <a:lnTo>
                  <a:pt x="3321592" y="0"/>
                </a:lnTo>
                <a:lnTo>
                  <a:pt x="3321592" y="4950883"/>
                </a:lnTo>
                <a:lnTo>
                  <a:pt x="0" y="4950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5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97719" y="-3719573"/>
            <a:ext cx="11892632" cy="17726146"/>
          </a:xfrm>
          <a:custGeom>
            <a:avLst/>
            <a:gdLst/>
            <a:ahLst/>
            <a:cxnLst/>
            <a:rect r="r" b="b" t="t" l="l"/>
            <a:pathLst>
              <a:path h="17726146" w="11892632">
                <a:moveTo>
                  <a:pt x="0" y="0"/>
                </a:moveTo>
                <a:lnTo>
                  <a:pt x="11892632" y="0"/>
                </a:lnTo>
                <a:lnTo>
                  <a:pt x="11892632" y="17726146"/>
                </a:lnTo>
                <a:lnTo>
                  <a:pt x="0" y="17726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1240" y="4402835"/>
            <a:ext cx="7882760" cy="17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6"/>
              </a:lnSpc>
            </a:pPr>
            <a:r>
              <a:rPr lang="en-US" sz="12976" spc="-259" b="true">
                <a:solidFill>
                  <a:srgbClr val="F6F6E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665183" y="1028700"/>
            <a:ext cx="8229600" cy="82296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9B7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27481" y="1590998"/>
            <a:ext cx="7105005" cy="71050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50000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543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JavaScript: it is an object-oriented, dynamically typed scripting language.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Unlike more familiar object-oriented languages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such as Java, C#, and C++, functions in JavaScript are also objects.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JavaScript is dynamically typed (also called weakly typed) in that variables can be easily (or implicitly) converted from one data type to another.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295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Client Side Scripting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Client-side scripting refers to the client machine (i.e., the browser) running code locally rather than relying on the server to execute code and return the result. 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34330" y="1542622"/>
            <a:ext cx="9896789" cy="7595210"/>
          </a:xfrm>
          <a:custGeom>
            <a:avLst/>
            <a:gdLst/>
            <a:ahLst/>
            <a:cxnLst/>
            <a:rect r="r" b="b" t="t" l="l"/>
            <a:pathLst>
              <a:path h="7595210" w="9896789">
                <a:moveTo>
                  <a:pt x="0" y="0"/>
                </a:moveTo>
                <a:lnTo>
                  <a:pt x="9896789" y="0"/>
                </a:lnTo>
                <a:lnTo>
                  <a:pt x="9896789" y="7595210"/>
                </a:lnTo>
                <a:lnTo>
                  <a:pt x="0" y="75952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44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Advantages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of client-side scripting:</a:t>
            </a:r>
          </a:p>
          <a:p>
            <a:pPr algn="just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Processing can be off-loaded from the server to client machines, thereby reducing the load on the server.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he browser can respond more rapidly to user events than a request to a remote server ever could, which improves the user experience.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9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Advantages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of client-side scripting:</a:t>
            </a:r>
          </a:p>
          <a:p>
            <a:pPr algn="just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JavaSc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ript can interact with the downloaded HTML in a way that the server cannot, creating a user experience more like desktop software than simple HTML ever could.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44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Disadvantages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of client-side scripting:</a:t>
            </a:r>
          </a:p>
          <a:p>
            <a:pPr algn="just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The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re is no guarantee that the client has JavaScript enabled, meaning any required functionality must be implemented redundantly on the server.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JavaScript-heavy web applications can be complicated to debug and maintain.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543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Disadvantages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of client-side scripting:</a:t>
            </a:r>
          </a:p>
          <a:p>
            <a:pPr algn="just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JavaSc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ript is not fault tolerant. Browsers are able to handle invalid HTML or CSS. But if your page has invalid JavaScript, it will simply stop execution at the invalid line.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While 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JavaScript is universally supported in all contemporary browsers, the language (and its APIs) is continually being expanded.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5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97719" y="-3719573"/>
            <a:ext cx="11892632" cy="17726146"/>
          </a:xfrm>
          <a:custGeom>
            <a:avLst/>
            <a:gdLst/>
            <a:ahLst/>
            <a:cxnLst/>
            <a:rect r="r" b="b" t="t" l="l"/>
            <a:pathLst>
              <a:path h="17726146" w="11892632">
                <a:moveTo>
                  <a:pt x="0" y="0"/>
                </a:moveTo>
                <a:lnTo>
                  <a:pt x="11892632" y="0"/>
                </a:lnTo>
                <a:lnTo>
                  <a:pt x="11892632" y="17726146"/>
                </a:lnTo>
                <a:lnTo>
                  <a:pt x="0" y="17726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1240" y="3587559"/>
            <a:ext cx="7882760" cy="335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6"/>
              </a:lnSpc>
            </a:pPr>
            <a:r>
              <a:rPr lang="en-US" sz="12976" spc="-259" b="true">
                <a:solidFill>
                  <a:srgbClr val="F6F6E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 history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665183" y="1028700"/>
            <a:ext cx="8229600" cy="82296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9B7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27481" y="1590998"/>
            <a:ext cx="7105005" cy="71050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50000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44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History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of JavaScript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JavaSc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ript was introduced by Netscape in their Navigator browser back in 1996.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It originally was called LiveScript but was renamed partly because one of its original purposes was to provide a measure of control within the browser over Java applets.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 history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44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History of JavaScript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Internet Explorer (IE) at first did not suppo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rt JavaScript but instead had its own browser-based scripting language (VBScript).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Netscap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 submitted JavaScript to Ecma International, a private, nonprofit standards organization.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 history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44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History of JavaScript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In 1997, ECMAScript is simultaneously a superset and subset of the JavaScript programming language. That is, the JavaScript that is supported by your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browser contains language features not included in the current ECMAScript specification while also missing certain language features from that specification.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 history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44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History of JavaScript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The Sixth Edition (or ES6) was the one that introduced many notable new addition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s to the language (such as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clas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ses, iterators, arrow functions, and promises).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Editions 7 through 11 added only a relatively modest number of additions in comparison.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 history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44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History of JavaScript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In the middle of the 2000s with the emergence of so-called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Web 2.0 or AJAX-enabled sites that JavaScript became a much more important part of web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development. AJAX is both an acronym as well as a general term. As an acronym it means Asynchronous JavaScript and XML, which was accurate for some time.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 history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9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History of JavaScript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Over the past decad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e, JSON (JavaScript Object Notation) has almost completely displaced XML as the most common format for data transport in interactive web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sites, thus making the AJAX acronym less and less meaningful today.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 history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93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History of JavaScript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While JavaScript is still predominately used to create user interfaces in browser b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ased applications, its role has expanded beyond the constraints of the browser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JavaScript has migrated into other nonbrowser applications. It can be used as the language within serv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er-side runtime environments such as Node.js.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 history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44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History of JavaScript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Some newer non-re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lational database systems such as MongoDB use JavaScript as their query language.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Complex desktop applications such as Adobe Creative Suite and OpenOffic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 use JavaScript as their end-user scripting language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 history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9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History of JavaScript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 wide varie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ty of hardware devices such as the Oculus Rift headset and the Arduino and Raspberry Pi microcontrollers make use of an embedded JavaScript engin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e. Indeed, JavaScript appears poised to be the main language for the emerging Internet of Things.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 history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9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History of JavaScript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Par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 of the reason for JavaScript’s emergence as one of, or perhaps even, the most important programming languages in software development is the vast programming 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ecosystem that has developed around JavaScript in the past decade.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 history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9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History of JavaScript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These ecosys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tem of libraries of JavaScript functions and objects are generally referred to as JavaScript frameworks. Some of these frameworks extend the JavaScript language; others provide functions and obj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ects to simplify the creation of complex user interfaces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 history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9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History of JavaScript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User interfac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 frameworks such as React and Vue.js simplify the process of creating Single-Page Applications (SPA), while more complex MVC frameworks such as Angular and Ember allow develop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ers to construct applications using software engineering best practices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 history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55953" y="320694"/>
            <a:ext cx="9665801" cy="9522522"/>
          </a:xfrm>
          <a:custGeom>
            <a:avLst/>
            <a:gdLst/>
            <a:ahLst/>
            <a:cxnLst/>
            <a:rect r="r" b="b" t="t" l="l"/>
            <a:pathLst>
              <a:path h="9522522" w="9665801">
                <a:moveTo>
                  <a:pt x="0" y="0"/>
                </a:moveTo>
                <a:lnTo>
                  <a:pt x="9665801" y="0"/>
                </a:lnTo>
                <a:lnTo>
                  <a:pt x="9665801" y="9522522"/>
                </a:lnTo>
                <a:lnTo>
                  <a:pt x="0" y="95225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javascript history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5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97719" y="-3719573"/>
            <a:ext cx="11892632" cy="17726146"/>
          </a:xfrm>
          <a:custGeom>
            <a:avLst/>
            <a:gdLst/>
            <a:ahLst/>
            <a:cxnLst/>
            <a:rect r="r" b="b" t="t" l="l"/>
            <a:pathLst>
              <a:path h="17726146" w="11892632">
                <a:moveTo>
                  <a:pt x="0" y="0"/>
                </a:moveTo>
                <a:lnTo>
                  <a:pt x="11892632" y="0"/>
                </a:lnTo>
                <a:lnTo>
                  <a:pt x="11892632" y="17726146"/>
                </a:lnTo>
                <a:lnTo>
                  <a:pt x="0" y="17726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587559"/>
            <a:ext cx="7882760" cy="335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6"/>
              </a:lnSpc>
            </a:pPr>
            <a:r>
              <a:rPr lang="en-US" sz="12976" spc="-259" b="true">
                <a:solidFill>
                  <a:srgbClr val="F6F6E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USING JAVASCRIPT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665183" y="1028700"/>
            <a:ext cx="8229600" cy="82296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9B7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27481" y="1590998"/>
            <a:ext cx="7105005" cy="71050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50000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543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In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line JavaScript refers to the practice of including JavaScript code directly within some HTML element attributes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Embedded JavaScript refers to the practice of placing JavaScript code within a &lt;script&gt; element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The recommended way to 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use JavaScript is to place it in an external file (external JavaScript). You do this via the &lt;script&gt; tag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174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USING JAVASCRIPT</a:t>
            </a:r>
          </a:p>
          <a:p>
            <a:pPr algn="l">
              <a:lnSpc>
                <a:spcPts val="673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824958"/>
            <a:ext cx="12482420" cy="6433342"/>
          </a:xfrm>
          <a:custGeom>
            <a:avLst/>
            <a:gdLst/>
            <a:ahLst/>
            <a:cxnLst/>
            <a:rect r="r" b="b" t="t" l="l"/>
            <a:pathLst>
              <a:path h="6433342" w="12482420">
                <a:moveTo>
                  <a:pt x="0" y="0"/>
                </a:moveTo>
                <a:lnTo>
                  <a:pt x="12482420" y="0"/>
                </a:lnTo>
                <a:lnTo>
                  <a:pt x="12482420" y="6433342"/>
                </a:lnTo>
                <a:lnTo>
                  <a:pt x="0" y="6433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USING JAVASCRIPT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39628" y="1542622"/>
            <a:ext cx="11368188" cy="6823363"/>
          </a:xfrm>
          <a:custGeom>
            <a:avLst/>
            <a:gdLst/>
            <a:ahLst/>
            <a:cxnLst/>
            <a:rect r="r" b="b" t="t" l="l"/>
            <a:pathLst>
              <a:path h="6823363" w="11368188">
                <a:moveTo>
                  <a:pt x="0" y="0"/>
                </a:moveTo>
                <a:lnTo>
                  <a:pt x="11368188" y="0"/>
                </a:lnTo>
                <a:lnTo>
                  <a:pt x="11368188" y="6823362"/>
                </a:lnTo>
                <a:lnTo>
                  <a:pt x="0" y="6823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USING JAVASCRIPT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5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97719" y="-3719573"/>
            <a:ext cx="11892632" cy="17726146"/>
          </a:xfrm>
          <a:custGeom>
            <a:avLst/>
            <a:gdLst/>
            <a:ahLst/>
            <a:cxnLst/>
            <a:rect r="r" b="b" t="t" l="l"/>
            <a:pathLst>
              <a:path h="17726146" w="11892632">
                <a:moveTo>
                  <a:pt x="0" y="0"/>
                </a:moveTo>
                <a:lnTo>
                  <a:pt x="11892632" y="0"/>
                </a:lnTo>
                <a:lnTo>
                  <a:pt x="11892632" y="17726146"/>
                </a:lnTo>
                <a:lnTo>
                  <a:pt x="0" y="17726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587559"/>
            <a:ext cx="7882760" cy="497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6"/>
              </a:lnSpc>
            </a:pPr>
            <a:r>
              <a:rPr lang="en-US" sz="12976" spc="-259" b="true">
                <a:solidFill>
                  <a:srgbClr val="F6F6E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  <a:p>
            <a:pPr algn="l">
              <a:lnSpc>
                <a:spcPts val="1284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9665183" y="1028700"/>
            <a:ext cx="8229600" cy="82296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9B7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27481" y="1590998"/>
            <a:ext cx="7105005" cy="71050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50000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9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To dec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lare a variable in JavaScript, you can use either the var, const, or let keywords.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If you do not 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specify an initial value, its initial value will be undefined.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*JavaScript is a case sensitive language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174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  <a:p>
            <a:pPr algn="l">
              <a:lnSpc>
                <a:spcPts val="673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78987" y="1542622"/>
            <a:ext cx="9216900" cy="6727996"/>
          </a:xfrm>
          <a:custGeom>
            <a:avLst/>
            <a:gdLst/>
            <a:ahLst/>
            <a:cxnLst/>
            <a:rect r="r" b="b" t="t" l="l"/>
            <a:pathLst>
              <a:path h="6727996" w="9216900">
                <a:moveTo>
                  <a:pt x="0" y="0"/>
                </a:moveTo>
                <a:lnTo>
                  <a:pt x="9216899" y="0"/>
                </a:lnTo>
                <a:lnTo>
                  <a:pt x="9216899" y="6727995"/>
                </a:lnTo>
                <a:lnTo>
                  <a:pt x="0" y="6727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93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V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ariables can be defined without using one of the keywords, doing so may give that variable global scope.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The let and const keywords were added in ES6 and are now u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sually to be preferred over var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Assignment can happen at declaration time by appending the value to the declaration, or at runtime with a simple right-to-left assignment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174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  <a:p>
            <a:pPr algn="l">
              <a:lnSpc>
                <a:spcPts val="673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9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ach line of JavaScript is terminated with a semicolon.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If you forget to add the semicolons, the JavaScript engine will 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still automatically insert them.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Notice that whitespace around variables, keywords, and other symbols has no meaning.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174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  <a:p>
            <a:pPr algn="l">
              <a:lnSpc>
                <a:spcPts val="673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3823672"/>
            <a:ext cx="9779381" cy="543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W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hen to use const (U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se this 80-90% of the time)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Use const when the </a:t>
            </a:r>
            <a:r>
              <a:rPr lang="en-US" sz="2799" b="true">
                <a:solidFill>
                  <a:srgbClr val="272727"/>
                </a:solidFill>
                <a:latin typeface="TT Fors Bold"/>
                <a:ea typeface="TT Fors Bold"/>
                <a:cs typeface="TT Fors Bold"/>
                <a:sym typeface="TT Fors Bold"/>
              </a:rPr>
              <a:t>variable identifier should not be reassigned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after its initial declaration.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72727"/>
                </a:solidFill>
                <a:latin typeface="TT Fors Bold"/>
                <a:ea typeface="TT Fors Bold"/>
                <a:cs typeface="TT Fors Bold"/>
                <a:sym typeface="TT Fors Bold"/>
              </a:rPr>
              <a:t>Primitives (numbers, strings, booleans):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Always use const unless the value itself will change.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72727"/>
                </a:solidFill>
                <a:latin typeface="TT Fors Bold"/>
                <a:ea typeface="TT Fors Bold"/>
                <a:cs typeface="TT Fors Bold"/>
                <a:sym typeface="TT Fors Bold"/>
              </a:rPr>
              <a:t>Objects and Arrays: 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Use const for them by default, even if you change their contents.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72727"/>
                </a:solidFill>
                <a:latin typeface="TT Fors Bold"/>
                <a:ea typeface="TT Fors Bold"/>
                <a:cs typeface="TT Fors Bold"/>
                <a:sym typeface="TT Fors Bold"/>
              </a:rPr>
              <a:t>Functions and Imports: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Use const for function expressions and imported modules.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2917273"/>
            <a:ext cx="9779381" cy="174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  <a:p>
            <a:pPr algn="l">
              <a:lnSpc>
                <a:spcPts val="673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3823672"/>
            <a:ext cx="9779381" cy="493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W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hen to use 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let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(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Use this 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only whe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n n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ecessary)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Use let when you </a:t>
            </a:r>
            <a:r>
              <a:rPr lang="en-US" sz="2799" b="true">
                <a:solidFill>
                  <a:srgbClr val="272727"/>
                </a:solidFill>
                <a:latin typeface="TT Fors Bold"/>
                <a:ea typeface="TT Fors Bold"/>
                <a:cs typeface="TT Fors Bold"/>
                <a:sym typeface="TT Fors Bold"/>
              </a:rPr>
              <a:t>need to reassign the variable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to a completely new value later in the code.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72727"/>
                </a:solidFill>
                <a:latin typeface="TT Fors Bold"/>
                <a:ea typeface="TT Fors Bold"/>
                <a:cs typeface="TT Fors Bold"/>
                <a:sym typeface="TT Fors Bold"/>
              </a:rPr>
              <a:t>Loop counters: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The classic use case.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72727"/>
                </a:solidFill>
                <a:latin typeface="TT Fors Bold"/>
                <a:ea typeface="TT Fors Bold"/>
                <a:cs typeface="TT Fors Bold"/>
                <a:sym typeface="TT Fors Bold"/>
              </a:rPr>
              <a:t>Accumulators / Aggregators: 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Variables that build up a total.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72727"/>
                </a:solidFill>
                <a:latin typeface="TT Fors Bold"/>
                <a:ea typeface="TT Fors Bold"/>
                <a:cs typeface="TT Fors Bold"/>
                <a:sym typeface="TT Fors Bold"/>
              </a:rPr>
              <a:t>Conditional reassignment: 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When a variable's value depends on a condition.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2917273"/>
            <a:ext cx="9779381" cy="174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  <a:p>
            <a:pPr algn="l">
              <a:lnSpc>
                <a:spcPts val="673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86887" y="1349396"/>
            <a:ext cx="11181143" cy="8015854"/>
          </a:xfrm>
          <a:custGeom>
            <a:avLst/>
            <a:gdLst/>
            <a:ahLst/>
            <a:cxnLst/>
            <a:rect r="r" b="b" t="t" l="l"/>
            <a:pathLst>
              <a:path h="8015854" w="11181143">
                <a:moveTo>
                  <a:pt x="0" y="0"/>
                </a:moveTo>
                <a:lnTo>
                  <a:pt x="11181143" y="0"/>
                </a:lnTo>
                <a:lnTo>
                  <a:pt x="11181143" y="8015854"/>
                </a:lnTo>
                <a:lnTo>
                  <a:pt x="0" y="80158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4802639" cy="1762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543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JavaScript Output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alert() function instructs the browser to display a pop-up or modal dialog window (that is, the user cannot interact with the page until di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smissing the dialog) displaying the string passed to the function.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console.log() method (or one of its related cousins, such as console.warn() or console.dir()) since console output doesn’t interfere with the display of HTML content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174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  <a:p>
            <a:pPr algn="l">
              <a:lnSpc>
                <a:spcPts val="673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45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JavaScript Output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docum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ent.write() method can be a useful way to output markup content from with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in JavaScript. This method is often used to output markup or to combine markup with JavaScript variables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174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  <a:p>
            <a:pPr algn="l">
              <a:lnSpc>
                <a:spcPts val="673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31339" y="1542622"/>
            <a:ext cx="11915130" cy="5687301"/>
          </a:xfrm>
          <a:custGeom>
            <a:avLst/>
            <a:gdLst/>
            <a:ahLst/>
            <a:cxnLst/>
            <a:rect r="r" b="b" t="t" l="l"/>
            <a:pathLst>
              <a:path h="5687301" w="11915130">
                <a:moveTo>
                  <a:pt x="0" y="0"/>
                </a:moveTo>
                <a:lnTo>
                  <a:pt x="11915131" y="0"/>
                </a:lnTo>
                <a:lnTo>
                  <a:pt x="11915131" y="5687300"/>
                </a:lnTo>
                <a:lnTo>
                  <a:pt x="0" y="5687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4802639" cy="1762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41347" y="1028700"/>
            <a:ext cx="11117895" cy="8298795"/>
          </a:xfrm>
          <a:custGeom>
            <a:avLst/>
            <a:gdLst/>
            <a:ahLst/>
            <a:cxnLst/>
            <a:rect r="r" b="b" t="t" l="l"/>
            <a:pathLst>
              <a:path h="8298795" w="11117895">
                <a:moveTo>
                  <a:pt x="0" y="0"/>
                </a:moveTo>
                <a:lnTo>
                  <a:pt x="11117895" y="0"/>
                </a:lnTo>
                <a:lnTo>
                  <a:pt x="11117895" y="8298795"/>
                </a:lnTo>
                <a:lnTo>
                  <a:pt x="0" y="82987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4802639" cy="1762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43452" y="1428560"/>
            <a:ext cx="10437632" cy="8068135"/>
          </a:xfrm>
          <a:custGeom>
            <a:avLst/>
            <a:gdLst/>
            <a:ahLst/>
            <a:cxnLst/>
            <a:rect r="r" b="b" t="t" l="l"/>
            <a:pathLst>
              <a:path h="8068135" w="10437632">
                <a:moveTo>
                  <a:pt x="0" y="0"/>
                </a:moveTo>
                <a:lnTo>
                  <a:pt x="10437632" y="0"/>
                </a:lnTo>
                <a:lnTo>
                  <a:pt x="10437632" y="8068136"/>
                </a:lnTo>
                <a:lnTo>
                  <a:pt x="0" y="80681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4802639" cy="1762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295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Data Types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JavaScript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has two basic data types: reference types (usually referred to as objects) a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nd primitive types (i.e., nonobject, simple types).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45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Data Types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Primitive vari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ables contain the value of the primitive directly within memory. In contrast, object variables contai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n a reference or pointer to the block of memory associated with the content of the object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772359"/>
            <a:ext cx="11964244" cy="6485941"/>
          </a:xfrm>
          <a:custGeom>
            <a:avLst/>
            <a:gdLst/>
            <a:ahLst/>
            <a:cxnLst/>
            <a:rect r="r" b="b" t="t" l="l"/>
            <a:pathLst>
              <a:path h="6485941" w="11964244">
                <a:moveTo>
                  <a:pt x="0" y="0"/>
                </a:moveTo>
                <a:lnTo>
                  <a:pt x="11964244" y="0"/>
                </a:lnTo>
                <a:lnTo>
                  <a:pt x="11964244" y="6485941"/>
                </a:lnTo>
                <a:lnTo>
                  <a:pt x="0" y="6485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43250" y="706529"/>
            <a:ext cx="10583719" cy="8470731"/>
          </a:xfrm>
          <a:custGeom>
            <a:avLst/>
            <a:gdLst/>
            <a:ahLst/>
            <a:cxnLst/>
            <a:rect r="r" b="b" t="t" l="l"/>
            <a:pathLst>
              <a:path h="8470731" w="10583719">
                <a:moveTo>
                  <a:pt x="0" y="0"/>
                </a:moveTo>
                <a:lnTo>
                  <a:pt x="10583719" y="0"/>
                </a:lnTo>
                <a:lnTo>
                  <a:pt x="10583719" y="8470732"/>
                </a:lnTo>
                <a:lnTo>
                  <a:pt x="0" y="8470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4610194" cy="1762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45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Data Types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You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cannot reassign the value of a variable defined with a const. However, for a const variable that is assig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ned to a reference type (such as an object or array), its properties or elements can be changed.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48834" y="1542622"/>
            <a:ext cx="11868112" cy="7073134"/>
          </a:xfrm>
          <a:custGeom>
            <a:avLst/>
            <a:gdLst/>
            <a:ahLst/>
            <a:cxnLst/>
            <a:rect r="r" b="b" t="t" l="l"/>
            <a:pathLst>
              <a:path h="7073134" w="11868112">
                <a:moveTo>
                  <a:pt x="0" y="0"/>
                </a:moveTo>
                <a:lnTo>
                  <a:pt x="11868112" y="0"/>
                </a:lnTo>
                <a:lnTo>
                  <a:pt x="11868112" y="7073134"/>
                </a:lnTo>
                <a:lnTo>
                  <a:pt x="0" y="70731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4610194" cy="1762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9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Built in Objects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J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avaScript has a variety of objects you can use at any time, such as arrays, functions, a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nd the built-in objects. Some of the most commonly used built-in objects include Object, Function, Boolean, Error, Number, Math, Date, String, and Regexp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295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Concatenation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One of the most b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asic programming tasks in JavaScript is to combine string literals toge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ther with other variables. This is accomplished using the concatenate operator (+).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782650"/>
            <a:ext cx="13522287" cy="6719748"/>
          </a:xfrm>
          <a:custGeom>
            <a:avLst/>
            <a:gdLst/>
            <a:ahLst/>
            <a:cxnLst/>
            <a:rect r="r" b="b" t="t" l="l"/>
            <a:pathLst>
              <a:path h="6719748" w="13522287">
                <a:moveTo>
                  <a:pt x="0" y="0"/>
                </a:moveTo>
                <a:lnTo>
                  <a:pt x="13522287" y="0"/>
                </a:lnTo>
                <a:lnTo>
                  <a:pt x="13522287" y="6719748"/>
                </a:lnTo>
                <a:lnTo>
                  <a:pt x="0" y="67197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246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Concatenation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Newer ver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sions of JavaScript have added an alternat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ive technique for concatenation, namely, template literals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005176"/>
            <a:ext cx="11907299" cy="2885547"/>
          </a:xfrm>
          <a:custGeom>
            <a:avLst/>
            <a:gdLst/>
            <a:ahLst/>
            <a:cxnLst/>
            <a:rect r="r" b="b" t="t" l="l"/>
            <a:pathLst>
              <a:path h="2885547" w="11907299">
                <a:moveTo>
                  <a:pt x="0" y="0"/>
                </a:moveTo>
                <a:lnTo>
                  <a:pt x="11907299" y="0"/>
                </a:lnTo>
                <a:lnTo>
                  <a:pt x="11907299" y="2885547"/>
                </a:lnTo>
                <a:lnTo>
                  <a:pt x="0" y="2885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VARIABLES AND DATA TYPES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5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97719" y="-3719573"/>
            <a:ext cx="11892632" cy="17726146"/>
          </a:xfrm>
          <a:custGeom>
            <a:avLst/>
            <a:gdLst/>
            <a:ahLst/>
            <a:cxnLst/>
            <a:rect r="r" b="b" t="t" l="l"/>
            <a:pathLst>
              <a:path h="17726146" w="11892632">
                <a:moveTo>
                  <a:pt x="0" y="0"/>
                </a:moveTo>
                <a:lnTo>
                  <a:pt x="11892632" y="0"/>
                </a:lnTo>
                <a:lnTo>
                  <a:pt x="11892632" y="17726146"/>
                </a:lnTo>
                <a:lnTo>
                  <a:pt x="0" y="17726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402835"/>
            <a:ext cx="7882760" cy="17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6"/>
              </a:lnSpc>
            </a:pPr>
            <a:r>
              <a:rPr lang="en-US" sz="12976" spc="-259" b="true">
                <a:solidFill>
                  <a:srgbClr val="F6F6E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conditionals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665183" y="1028700"/>
            <a:ext cx="8229600" cy="82296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9B7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27481" y="1590998"/>
            <a:ext cx="7105005" cy="71050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50000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23841" y="1542622"/>
            <a:ext cx="11843890" cy="6095943"/>
          </a:xfrm>
          <a:custGeom>
            <a:avLst/>
            <a:gdLst/>
            <a:ahLst/>
            <a:cxnLst/>
            <a:rect r="r" b="b" t="t" l="l"/>
            <a:pathLst>
              <a:path h="6095943" w="11843890">
                <a:moveTo>
                  <a:pt x="0" y="0"/>
                </a:moveTo>
                <a:lnTo>
                  <a:pt x="11843890" y="0"/>
                </a:lnTo>
                <a:lnTo>
                  <a:pt x="11843890" y="6095943"/>
                </a:lnTo>
                <a:lnTo>
                  <a:pt x="0" y="60959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conditionals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67052" y="1542622"/>
            <a:ext cx="11787290" cy="5088302"/>
          </a:xfrm>
          <a:custGeom>
            <a:avLst/>
            <a:gdLst/>
            <a:ahLst/>
            <a:cxnLst/>
            <a:rect r="r" b="b" t="t" l="l"/>
            <a:pathLst>
              <a:path h="5088302" w="11787290">
                <a:moveTo>
                  <a:pt x="0" y="0"/>
                </a:moveTo>
                <a:lnTo>
                  <a:pt x="11787290" y="0"/>
                </a:lnTo>
                <a:lnTo>
                  <a:pt x="11787290" y="5088302"/>
                </a:lnTo>
                <a:lnTo>
                  <a:pt x="0" y="5088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conditionals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33791" y="1672334"/>
            <a:ext cx="11525509" cy="7585966"/>
          </a:xfrm>
          <a:custGeom>
            <a:avLst/>
            <a:gdLst/>
            <a:ahLst/>
            <a:cxnLst/>
            <a:rect r="r" b="b" t="t" l="l"/>
            <a:pathLst>
              <a:path h="7585966" w="11525509">
                <a:moveTo>
                  <a:pt x="0" y="0"/>
                </a:moveTo>
                <a:lnTo>
                  <a:pt x="11525509" y="0"/>
                </a:lnTo>
                <a:lnTo>
                  <a:pt x="11525509" y="7585966"/>
                </a:lnTo>
                <a:lnTo>
                  <a:pt x="0" y="758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conditionals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35997" y="860903"/>
            <a:ext cx="10479385" cy="8565194"/>
          </a:xfrm>
          <a:custGeom>
            <a:avLst/>
            <a:gdLst/>
            <a:ahLst/>
            <a:cxnLst/>
            <a:rect r="r" b="b" t="t" l="l"/>
            <a:pathLst>
              <a:path h="8565194" w="10479385">
                <a:moveTo>
                  <a:pt x="0" y="0"/>
                </a:moveTo>
                <a:lnTo>
                  <a:pt x="10479385" y="0"/>
                </a:lnTo>
                <a:lnTo>
                  <a:pt x="10479385" y="8565194"/>
                </a:lnTo>
                <a:lnTo>
                  <a:pt x="0" y="8565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conditionals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5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97719" y="-3719573"/>
            <a:ext cx="11892632" cy="17726146"/>
          </a:xfrm>
          <a:custGeom>
            <a:avLst/>
            <a:gdLst/>
            <a:ahLst/>
            <a:cxnLst/>
            <a:rect r="r" b="b" t="t" l="l"/>
            <a:pathLst>
              <a:path h="17726146" w="11892632">
                <a:moveTo>
                  <a:pt x="0" y="0"/>
                </a:moveTo>
                <a:lnTo>
                  <a:pt x="11892632" y="0"/>
                </a:lnTo>
                <a:lnTo>
                  <a:pt x="11892632" y="17726146"/>
                </a:lnTo>
                <a:lnTo>
                  <a:pt x="0" y="17726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402835"/>
            <a:ext cx="7882760" cy="17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6"/>
              </a:lnSpc>
            </a:pPr>
            <a:r>
              <a:rPr lang="en-US" sz="12976" spc="-259" b="true">
                <a:solidFill>
                  <a:srgbClr val="F6F6E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loops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665183" y="1028700"/>
            <a:ext cx="8229600" cy="82296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9B7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27481" y="1590998"/>
            <a:ext cx="7105005" cy="71050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50000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246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Loops are used to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execute a code block repeatedly. JavaScript defines three principal statements for executing loops: the while statement, the do...while statement, and the for statement.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Loops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0466" y="2743872"/>
            <a:ext cx="8112910" cy="6219020"/>
          </a:xfrm>
          <a:custGeom>
            <a:avLst/>
            <a:gdLst/>
            <a:ahLst/>
            <a:cxnLst/>
            <a:rect r="r" b="b" t="t" l="l"/>
            <a:pathLst>
              <a:path h="6219020" w="8112910">
                <a:moveTo>
                  <a:pt x="0" y="0"/>
                </a:moveTo>
                <a:lnTo>
                  <a:pt x="8112911" y="0"/>
                </a:lnTo>
                <a:lnTo>
                  <a:pt x="8112911" y="6219021"/>
                </a:lnTo>
                <a:lnTo>
                  <a:pt x="0" y="62190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66643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2743872"/>
            <a:ext cx="8452708" cy="3128077"/>
          </a:xfrm>
          <a:custGeom>
            <a:avLst/>
            <a:gdLst/>
            <a:ahLst/>
            <a:cxnLst/>
            <a:rect r="r" b="b" t="t" l="l"/>
            <a:pathLst>
              <a:path h="3128077" w="8452708">
                <a:moveTo>
                  <a:pt x="0" y="0"/>
                </a:moveTo>
                <a:lnTo>
                  <a:pt x="8452708" y="0"/>
                </a:lnTo>
                <a:lnTo>
                  <a:pt x="8452708" y="3128077"/>
                </a:lnTo>
                <a:lnTo>
                  <a:pt x="0" y="3128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loops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5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97719" y="-3719573"/>
            <a:ext cx="11892632" cy="17726146"/>
          </a:xfrm>
          <a:custGeom>
            <a:avLst/>
            <a:gdLst/>
            <a:ahLst/>
            <a:cxnLst/>
            <a:rect r="r" b="b" t="t" l="l"/>
            <a:pathLst>
              <a:path h="17726146" w="11892632">
                <a:moveTo>
                  <a:pt x="0" y="0"/>
                </a:moveTo>
                <a:lnTo>
                  <a:pt x="11892632" y="0"/>
                </a:lnTo>
                <a:lnTo>
                  <a:pt x="11892632" y="17726146"/>
                </a:lnTo>
                <a:lnTo>
                  <a:pt x="0" y="17726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402835"/>
            <a:ext cx="7882760" cy="17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6"/>
              </a:lnSpc>
            </a:pPr>
            <a:r>
              <a:rPr lang="en-US" sz="12976" spc="-259" b="true">
                <a:solidFill>
                  <a:srgbClr val="F6F6E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ARRAYS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665183" y="1028700"/>
            <a:ext cx="8229600" cy="82296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9B7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27481" y="1590998"/>
            <a:ext cx="7105005" cy="71050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50000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543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Array is a data structure that allows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the programmer to collect a number of related elements together in a single variable. JavaScript provides two main ways to define an array. 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The most common way is to use array literal notation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name = [value1, value2, ... ];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The second approach to creating arrays is to use the Array() constructor: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name = new Array(value1, value2, ... );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arrays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93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Arrays in JavaScript are zero indexed, meaning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that the first element of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the array is accessed at index 0, and the last element at the value of the array’s length property minus 1.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Arrays are built-in objects in JavaScript. This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means that all arrays inherit a variety of properties and methods that can be used to explore and manipulate an array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arrays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44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To add an item to the end of an existing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array, you can use the push() method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To add an item at the beginning of an existing array, you would use the unshift() method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countries.push("Zimbabwe");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countries.unshift("Austria");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arrays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295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The pop() method can be used to remove the last element from an 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array.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Additional methods that modify arrays include concat(), slice(), join(), reverse(), shift(), and sort()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arrays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60917" y="1028700"/>
            <a:ext cx="11498383" cy="7748910"/>
          </a:xfrm>
          <a:custGeom>
            <a:avLst/>
            <a:gdLst/>
            <a:ahLst/>
            <a:cxnLst/>
            <a:rect r="r" b="b" t="t" l="l"/>
            <a:pathLst>
              <a:path h="7748910" w="11498383">
                <a:moveTo>
                  <a:pt x="0" y="0"/>
                </a:moveTo>
                <a:lnTo>
                  <a:pt x="11498383" y="0"/>
                </a:lnTo>
                <a:lnTo>
                  <a:pt x="11498383" y="7748910"/>
                </a:lnTo>
                <a:lnTo>
                  <a:pt x="0" y="7748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ARRAYS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91811" y="1542622"/>
            <a:ext cx="9593413" cy="7607482"/>
          </a:xfrm>
          <a:custGeom>
            <a:avLst/>
            <a:gdLst/>
            <a:ahLst/>
            <a:cxnLst/>
            <a:rect r="r" b="b" t="t" l="l"/>
            <a:pathLst>
              <a:path h="7607482" w="9593413">
                <a:moveTo>
                  <a:pt x="0" y="0"/>
                </a:moveTo>
                <a:lnTo>
                  <a:pt x="9593412" y="0"/>
                </a:lnTo>
                <a:lnTo>
                  <a:pt x="9593412" y="7607481"/>
                </a:lnTo>
                <a:lnTo>
                  <a:pt x="0" y="76074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ARRAYS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543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spread syntax provides a n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ew way to create an array from one or more existing arrays.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---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sports = ["Tennis","Hockey"];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games = ["Monopoly","Chess"];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---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pastimes = ["Painting", ...sports, ...games, "Cooking"];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---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["Painting","Tennis","Hockey","Monopoly","Chess","Cooking"];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arrays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93052" y="6184639"/>
            <a:ext cx="7574382" cy="2060573"/>
          </a:xfrm>
          <a:custGeom>
            <a:avLst/>
            <a:gdLst/>
            <a:ahLst/>
            <a:cxnLst/>
            <a:rect r="r" b="b" t="t" l="l"/>
            <a:pathLst>
              <a:path h="2060573" w="7574382">
                <a:moveTo>
                  <a:pt x="0" y="0"/>
                </a:moveTo>
                <a:lnTo>
                  <a:pt x="7574382" y="0"/>
                </a:lnTo>
                <a:lnTo>
                  <a:pt x="7574382" y="2060573"/>
                </a:lnTo>
                <a:lnTo>
                  <a:pt x="0" y="20605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748155" y="6177455"/>
            <a:ext cx="8406175" cy="2067757"/>
          </a:xfrm>
          <a:custGeom>
            <a:avLst/>
            <a:gdLst/>
            <a:ahLst/>
            <a:cxnLst/>
            <a:rect r="r" b="b" t="t" l="l"/>
            <a:pathLst>
              <a:path h="2067757" w="8406175">
                <a:moveTo>
                  <a:pt x="0" y="0"/>
                </a:moveTo>
                <a:lnTo>
                  <a:pt x="8406175" y="0"/>
                </a:lnTo>
                <a:lnTo>
                  <a:pt x="8406175" y="2067757"/>
                </a:lnTo>
                <a:lnTo>
                  <a:pt x="0" y="20677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479919" y="4432109"/>
            <a:ext cx="9779381" cy="1472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ES6 introduced an alternat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 way to iterate through an array, known as the for...of loop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arrays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79919" y="4432109"/>
            <a:ext cx="9779381" cy="1967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Another new language feature introduc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ed with ES6 is array destructuring, which provides a simplified syntax for extracting multiple scalar values from an array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arrays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571756"/>
            <a:ext cx="11613946" cy="706601"/>
          </a:xfrm>
          <a:custGeom>
            <a:avLst/>
            <a:gdLst/>
            <a:ahLst/>
            <a:cxnLst/>
            <a:rect r="r" b="b" t="t" l="l"/>
            <a:pathLst>
              <a:path h="706601" w="11613946">
                <a:moveTo>
                  <a:pt x="0" y="0"/>
                </a:moveTo>
                <a:lnTo>
                  <a:pt x="11613946" y="0"/>
                </a:lnTo>
                <a:lnTo>
                  <a:pt x="11613946" y="706601"/>
                </a:lnTo>
                <a:lnTo>
                  <a:pt x="0" y="706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3442940"/>
            <a:ext cx="7666692" cy="1700560"/>
          </a:xfrm>
          <a:custGeom>
            <a:avLst/>
            <a:gdLst/>
            <a:ahLst/>
            <a:cxnLst/>
            <a:rect r="r" b="b" t="t" l="l"/>
            <a:pathLst>
              <a:path h="1700560" w="7666692">
                <a:moveTo>
                  <a:pt x="0" y="0"/>
                </a:moveTo>
                <a:lnTo>
                  <a:pt x="7666692" y="0"/>
                </a:lnTo>
                <a:lnTo>
                  <a:pt x="7666692" y="1700560"/>
                </a:lnTo>
                <a:lnTo>
                  <a:pt x="0" y="17005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337570"/>
            <a:ext cx="8785558" cy="961338"/>
          </a:xfrm>
          <a:custGeom>
            <a:avLst/>
            <a:gdLst/>
            <a:ahLst/>
            <a:cxnLst/>
            <a:rect r="r" b="b" t="t" l="l"/>
            <a:pathLst>
              <a:path h="961338" w="8785558">
                <a:moveTo>
                  <a:pt x="0" y="0"/>
                </a:moveTo>
                <a:lnTo>
                  <a:pt x="8785558" y="0"/>
                </a:lnTo>
                <a:lnTo>
                  <a:pt x="8785558" y="961337"/>
                </a:lnTo>
                <a:lnTo>
                  <a:pt x="0" y="9613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6460832"/>
            <a:ext cx="7036595" cy="1046390"/>
          </a:xfrm>
          <a:custGeom>
            <a:avLst/>
            <a:gdLst/>
            <a:ahLst/>
            <a:cxnLst/>
            <a:rect r="r" b="b" t="t" l="l"/>
            <a:pathLst>
              <a:path h="1046390" w="7036595">
                <a:moveTo>
                  <a:pt x="0" y="0"/>
                </a:moveTo>
                <a:lnTo>
                  <a:pt x="7036595" y="0"/>
                </a:lnTo>
                <a:lnTo>
                  <a:pt x="7036595" y="1046391"/>
                </a:lnTo>
                <a:lnTo>
                  <a:pt x="0" y="10463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1205" y="7669148"/>
            <a:ext cx="9896040" cy="1401648"/>
          </a:xfrm>
          <a:custGeom>
            <a:avLst/>
            <a:gdLst/>
            <a:ahLst/>
            <a:cxnLst/>
            <a:rect r="r" b="b" t="t" l="l"/>
            <a:pathLst>
              <a:path h="1401648" w="9896040">
                <a:moveTo>
                  <a:pt x="0" y="0"/>
                </a:moveTo>
                <a:lnTo>
                  <a:pt x="9896040" y="0"/>
                </a:lnTo>
                <a:lnTo>
                  <a:pt x="9896040" y="1401647"/>
                </a:lnTo>
                <a:lnTo>
                  <a:pt x="0" y="14016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102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1205" y="8837224"/>
            <a:ext cx="11538406" cy="1327311"/>
          </a:xfrm>
          <a:custGeom>
            <a:avLst/>
            <a:gdLst/>
            <a:ahLst/>
            <a:cxnLst/>
            <a:rect r="r" b="b" t="t" l="l"/>
            <a:pathLst>
              <a:path h="1327311" w="11538406">
                <a:moveTo>
                  <a:pt x="0" y="0"/>
                </a:moveTo>
                <a:lnTo>
                  <a:pt x="11538406" y="0"/>
                </a:lnTo>
                <a:lnTo>
                  <a:pt x="11538406" y="1327311"/>
                </a:lnTo>
                <a:lnTo>
                  <a:pt x="0" y="13273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ARRAYS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5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97719" y="-3719573"/>
            <a:ext cx="11892632" cy="17726146"/>
          </a:xfrm>
          <a:custGeom>
            <a:avLst/>
            <a:gdLst/>
            <a:ahLst/>
            <a:cxnLst/>
            <a:rect r="r" b="b" t="t" l="l"/>
            <a:pathLst>
              <a:path h="17726146" w="11892632">
                <a:moveTo>
                  <a:pt x="0" y="0"/>
                </a:moveTo>
                <a:lnTo>
                  <a:pt x="11892632" y="0"/>
                </a:lnTo>
                <a:lnTo>
                  <a:pt x="11892632" y="17726146"/>
                </a:lnTo>
                <a:lnTo>
                  <a:pt x="0" y="17726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1240" y="4402835"/>
            <a:ext cx="7882760" cy="17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6"/>
              </a:lnSpc>
            </a:pPr>
            <a:r>
              <a:rPr lang="en-US" sz="12976" spc="-259" b="true">
                <a:solidFill>
                  <a:srgbClr val="F6F6E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665183" y="1028700"/>
            <a:ext cx="8229600" cy="82296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9B7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27481" y="1590998"/>
            <a:ext cx="7105005" cy="71050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50000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93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In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JavaScript, objects are a collection of named values (properties).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JavaScript instantiation: object literal notation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objName = {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property1: value1,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… 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}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44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To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reference the object properties, use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dot notation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objName.property1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square bracket notation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objName[“property1”]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785143"/>
            <a:ext cx="12183429" cy="6211160"/>
          </a:xfrm>
          <a:custGeom>
            <a:avLst/>
            <a:gdLst/>
            <a:ahLst/>
            <a:cxnLst/>
            <a:rect r="r" b="b" t="t" l="l"/>
            <a:pathLst>
              <a:path h="6211160" w="12183429">
                <a:moveTo>
                  <a:pt x="0" y="0"/>
                </a:moveTo>
                <a:lnTo>
                  <a:pt x="12183429" y="0"/>
                </a:lnTo>
                <a:lnTo>
                  <a:pt x="12183429" y="6211160"/>
                </a:lnTo>
                <a:lnTo>
                  <a:pt x="0" y="62111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objects</a:t>
            </a: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93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reating object using object constructor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objName = {}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or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objName = new Object();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objName.property1 = value1;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543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Obj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ect destructuring using spread syntax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book = {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id: 1,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title: “A Song of Ice and Fire”,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publisher: {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   name: “Bantam Books”,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   location: “USA”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}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};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93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et id = book.id;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let location = book.publisher.location;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let {id, title} = book;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let {name, location} = book.publisher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let {id, title, publisher: {name, location} = book;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92108" y="1542622"/>
            <a:ext cx="11642546" cy="6177937"/>
          </a:xfrm>
          <a:custGeom>
            <a:avLst/>
            <a:gdLst/>
            <a:ahLst/>
            <a:cxnLst/>
            <a:rect r="r" b="b" t="t" l="l"/>
            <a:pathLst>
              <a:path h="6177937" w="11642546">
                <a:moveTo>
                  <a:pt x="0" y="0"/>
                </a:moveTo>
                <a:lnTo>
                  <a:pt x="11642546" y="0"/>
                </a:lnTo>
                <a:lnTo>
                  <a:pt x="11642546" y="6177937"/>
                </a:lnTo>
                <a:lnTo>
                  <a:pt x="0" y="61779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objects</a:t>
            </a:r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96816" y="1542622"/>
            <a:ext cx="11217538" cy="7940087"/>
          </a:xfrm>
          <a:custGeom>
            <a:avLst/>
            <a:gdLst/>
            <a:ahLst/>
            <a:cxnLst/>
            <a:rect r="r" b="b" t="t" l="l"/>
            <a:pathLst>
              <a:path h="7940087" w="11217538">
                <a:moveTo>
                  <a:pt x="0" y="0"/>
                </a:moveTo>
                <a:lnTo>
                  <a:pt x="11217538" y="0"/>
                </a:lnTo>
                <a:lnTo>
                  <a:pt x="11217538" y="7940087"/>
                </a:lnTo>
                <a:lnTo>
                  <a:pt x="0" y="7940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objects</a:t>
            </a:r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592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Y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ou can also make use of the spread syntax to copy contents from one array into another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foo = { id:2, ...book.location, iso:"CA" };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foo = {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id: 2,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name: “Bantam Books”,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location: “USA”,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iso: “CA”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};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44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It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should be noted that this is a shallow copy, in that primitive values are copied, but for object references, only the references are copied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18081" y="1542622"/>
            <a:ext cx="11841219" cy="5452245"/>
          </a:xfrm>
          <a:custGeom>
            <a:avLst/>
            <a:gdLst/>
            <a:ahLst/>
            <a:cxnLst/>
            <a:rect r="r" b="b" t="t" l="l"/>
            <a:pathLst>
              <a:path h="5452245" w="11841219">
                <a:moveTo>
                  <a:pt x="0" y="0"/>
                </a:moveTo>
                <a:lnTo>
                  <a:pt x="11841219" y="0"/>
                </a:lnTo>
                <a:lnTo>
                  <a:pt x="11841219" y="5452244"/>
                </a:lnTo>
                <a:lnTo>
                  <a:pt x="0" y="54522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objects</a:t>
            </a:r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9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There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is a variant of object literal notation called JavaScript Object Notation or JSON which is used as a language-independent data interchange format analogous in use to XML.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The main difference between JSON and object literal notation is that property names are enclosed in quotes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44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nst text = ‘{ 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"name1" : "value1",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"name2" : "value2",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"name3" : "value3"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}’;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anObj = JSON.parse(text); 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51480" y="751277"/>
            <a:ext cx="9243904" cy="8671273"/>
          </a:xfrm>
          <a:custGeom>
            <a:avLst/>
            <a:gdLst/>
            <a:ahLst/>
            <a:cxnLst/>
            <a:rect r="r" b="b" t="t" l="l"/>
            <a:pathLst>
              <a:path h="8671273" w="9243904">
                <a:moveTo>
                  <a:pt x="0" y="0"/>
                </a:moveTo>
                <a:lnTo>
                  <a:pt x="9243905" y="0"/>
                </a:lnTo>
                <a:lnTo>
                  <a:pt x="9243905" y="8671274"/>
                </a:lnTo>
                <a:lnTo>
                  <a:pt x="0" y="86712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objects</a:t>
            </a:r>
          </a:p>
        </p:txBody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45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You ca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n include the external JSON file using the &lt;script&gt; tag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&lt;!-- in your HTML file --&gt;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&lt;script src="js/photos.json"&gt;&lt;/script&gt;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&lt;script src="js/ex14.js"&gt;&lt;/script&gt; 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543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Then in your Javascript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code (in js/ex14.js), you can convert the JSON string into an actual array using JSON.parse()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books = JSON.parse(book);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// you can now make use of the data array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console.log(books[0].id);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for (let aBook of books) {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console.log(aBook.title);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}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5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97719" y="-3719573"/>
            <a:ext cx="11892632" cy="17726146"/>
          </a:xfrm>
          <a:custGeom>
            <a:avLst/>
            <a:gdLst/>
            <a:ahLst/>
            <a:cxnLst/>
            <a:rect r="r" b="b" t="t" l="l"/>
            <a:pathLst>
              <a:path h="17726146" w="11892632">
                <a:moveTo>
                  <a:pt x="0" y="0"/>
                </a:moveTo>
                <a:lnTo>
                  <a:pt x="11892632" y="0"/>
                </a:lnTo>
                <a:lnTo>
                  <a:pt x="11892632" y="17726146"/>
                </a:lnTo>
                <a:lnTo>
                  <a:pt x="0" y="17726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402835"/>
            <a:ext cx="7882760" cy="172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6"/>
              </a:lnSpc>
            </a:pPr>
            <a:r>
              <a:rPr lang="en-US" sz="12976" spc="-259" b="true">
                <a:solidFill>
                  <a:srgbClr val="F6F6E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665183" y="1028700"/>
            <a:ext cx="8229600" cy="82296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9B7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27481" y="1590998"/>
            <a:ext cx="7105005" cy="71050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50000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543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Functions are the building blocks for modular code in JavaScript.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They are defined by using the reserved word function and then the function name and (optional)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parameters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function definition/declaration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function subtotal(price,quantity) {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return price * quantity;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}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79919" y="4432109"/>
            <a:ext cx="9779381" cy="1472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function invocat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let result = subtotal(10,2);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3442335"/>
            <a:ext cx="12296690" cy="3402329"/>
          </a:xfrm>
          <a:custGeom>
            <a:avLst/>
            <a:gdLst/>
            <a:ahLst/>
            <a:cxnLst/>
            <a:rect r="r" b="b" t="t" l="l"/>
            <a:pathLst>
              <a:path h="3402329" w="12296690">
                <a:moveTo>
                  <a:pt x="0" y="0"/>
                </a:moveTo>
                <a:lnTo>
                  <a:pt x="12296690" y="0"/>
                </a:lnTo>
                <a:lnTo>
                  <a:pt x="12296690" y="3402330"/>
                </a:lnTo>
                <a:lnTo>
                  <a:pt x="0" y="34023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79919" y="4432109"/>
            <a:ext cx="9779381" cy="592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Just as with arrays and objects, it is possible to create functions using the constructor of the Function object.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// defines a function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sub = new Function('price,quantity', 'return price*quantity’);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// invokes the funct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let result = sub(10,2);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79919" y="4432109"/>
            <a:ext cx="9779381" cy="444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function definition using function expression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// defines a function using a function expression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sub = function subtotal(price,quantity) {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return price * quantity;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};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// invokes the funct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let result = sub(10,2); 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79919" y="4432109"/>
            <a:ext cx="9779381" cy="543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anonymous function – function expression without function name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// defines a function using an anonymous function expression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calculateSubtotal = function (price,quantity) {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return price * quantity;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};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// invokes the funct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let result = calculateSubtotal(10,2);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79919" y="4432109"/>
            <a:ext cx="9779381" cy="444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anonymous function – function expression without function name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// define another function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warn = function(msg) {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al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ert(msg);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};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// now invoke that funct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warn("This doesn't return anything");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79919" y="4432109"/>
            <a:ext cx="9779381" cy="543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default parameters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function foo(a=10,b=0) { return a+b; }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est parameters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function concatenate(...args) {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et s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= ""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f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or (let a of 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args)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s += a + " ";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return s;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} 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1967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Function hoisting is a behavior in JavaScript where function declarations are moved to the top of their containing scope (their enclosing script or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function) during the compilation phase before any code is executed.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 hoisting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32950" y="420482"/>
            <a:ext cx="9697930" cy="9446036"/>
          </a:xfrm>
          <a:custGeom>
            <a:avLst/>
            <a:gdLst/>
            <a:ahLst/>
            <a:cxnLst/>
            <a:rect r="r" b="b" t="t" l="l"/>
            <a:pathLst>
              <a:path h="9446036" w="9697930">
                <a:moveTo>
                  <a:pt x="0" y="0"/>
                </a:moveTo>
                <a:lnTo>
                  <a:pt x="9697930" y="0"/>
                </a:lnTo>
                <a:lnTo>
                  <a:pt x="9697930" y="9446036"/>
                </a:lnTo>
                <a:lnTo>
                  <a:pt x="0" y="94460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 hoisting</a:t>
            </a:r>
          </a:p>
        </p:txBody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246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 callback function is a function passed as an argument into another function, which is then executed inside that outer function to complete an action.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CALLBACK FUNCTION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99611" y="1542622"/>
            <a:ext cx="10449549" cy="6515306"/>
          </a:xfrm>
          <a:custGeom>
            <a:avLst/>
            <a:gdLst/>
            <a:ahLst/>
            <a:cxnLst/>
            <a:rect r="r" b="b" t="t" l="l"/>
            <a:pathLst>
              <a:path h="6515306" w="10449549">
                <a:moveTo>
                  <a:pt x="0" y="0"/>
                </a:moveTo>
                <a:lnTo>
                  <a:pt x="10449549" y="0"/>
                </a:lnTo>
                <a:lnTo>
                  <a:pt x="10449549" y="6515306"/>
                </a:lnTo>
                <a:lnTo>
                  <a:pt x="0" y="6515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callback function</a:t>
            </a:r>
          </a:p>
        </p:txBody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87052" y="1542622"/>
            <a:ext cx="10669649" cy="6975798"/>
          </a:xfrm>
          <a:custGeom>
            <a:avLst/>
            <a:gdLst/>
            <a:ahLst/>
            <a:cxnLst/>
            <a:rect r="r" b="b" t="t" l="l"/>
            <a:pathLst>
              <a:path h="6975798" w="10669649">
                <a:moveTo>
                  <a:pt x="0" y="0"/>
                </a:moveTo>
                <a:lnTo>
                  <a:pt x="10669650" y="0"/>
                </a:lnTo>
                <a:lnTo>
                  <a:pt x="10669650" y="6975798"/>
                </a:lnTo>
                <a:lnTo>
                  <a:pt x="0" y="69757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85629" y="1211930"/>
            <a:ext cx="9268975" cy="7863141"/>
          </a:xfrm>
          <a:custGeom>
            <a:avLst/>
            <a:gdLst/>
            <a:ahLst/>
            <a:cxnLst/>
            <a:rect r="r" b="b" t="t" l="l"/>
            <a:pathLst>
              <a:path h="7863141" w="9268975">
                <a:moveTo>
                  <a:pt x="0" y="0"/>
                </a:moveTo>
                <a:lnTo>
                  <a:pt x="9268975" y="0"/>
                </a:lnTo>
                <a:lnTo>
                  <a:pt x="9268975" y="7863140"/>
                </a:lnTo>
                <a:lnTo>
                  <a:pt x="0" y="7863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9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The main problem with the object literal approach lies in situations in which we want numerous instances with the same properties and methods.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ne common solution to this problem is to use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function constructors, which looks similar to the approach used to create instances of objects in a class-based language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1967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The key difference between using a function constructor and using a regular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function resides in the use of the new keyword before the function name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8598" y="1542622"/>
            <a:ext cx="11969366" cy="6337403"/>
          </a:xfrm>
          <a:custGeom>
            <a:avLst/>
            <a:gdLst/>
            <a:ahLst/>
            <a:cxnLst/>
            <a:rect r="r" b="b" t="t" l="l"/>
            <a:pathLst>
              <a:path h="6337403" w="11969366">
                <a:moveTo>
                  <a:pt x="0" y="0"/>
                </a:moveTo>
                <a:lnTo>
                  <a:pt x="11969366" y="0"/>
                </a:lnTo>
                <a:lnTo>
                  <a:pt x="11969366" y="6337403"/>
                </a:lnTo>
                <a:lnTo>
                  <a:pt x="0" y="6337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29700" y="1542622"/>
            <a:ext cx="11229600" cy="6831159"/>
          </a:xfrm>
          <a:custGeom>
            <a:avLst/>
            <a:gdLst/>
            <a:ahLst/>
            <a:cxnLst/>
            <a:rect r="r" b="b" t="t" l="l"/>
            <a:pathLst>
              <a:path h="6831159" w="11229600">
                <a:moveTo>
                  <a:pt x="0" y="0"/>
                </a:moveTo>
                <a:lnTo>
                  <a:pt x="11229600" y="0"/>
                </a:lnTo>
                <a:lnTo>
                  <a:pt x="11229600" y="6831158"/>
                </a:lnTo>
                <a:lnTo>
                  <a:pt x="0" y="6831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493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Arrow Syntax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ES6 added a new syntax for declaring functions known as arrow syntax (or simply arrow functions). Arrow syntax provide a more concise syntax for the definition of anonymous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functions.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They also provide a solution to a potential scope problem encountered with the this keyword in callback functions.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45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Arrow Syntax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taxRate = function () { return 0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.05; };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// arrow version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taxRate = () =&gt; 0.05;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543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subtotal = function (price, quantity) {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let subtotal = price * quantity;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return subtotal + (subtotal * 0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.05);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}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// arrow version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subtotal = (price, quantity) =&gt; {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let subtotal = price * quantity;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return subtotal + (subtotal * 0.05);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}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45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function calculateTip(subtotal) {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  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return subtotal * 0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.15;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}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// arrow version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const calculateTip = subtotal =&gt; subtotal * 0.15; 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94293" y="1542622"/>
            <a:ext cx="11465007" cy="7501958"/>
          </a:xfrm>
          <a:custGeom>
            <a:avLst/>
            <a:gdLst/>
            <a:ahLst/>
            <a:cxnLst/>
            <a:rect r="r" b="b" t="t" l="l"/>
            <a:pathLst>
              <a:path h="7501958" w="11465007">
                <a:moveTo>
                  <a:pt x="0" y="0"/>
                </a:moveTo>
                <a:lnTo>
                  <a:pt x="11465007" y="0"/>
                </a:lnTo>
                <a:lnTo>
                  <a:pt x="11465007" y="7501958"/>
                </a:lnTo>
                <a:lnTo>
                  <a:pt x="0" y="7501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51858" y="1542622"/>
            <a:ext cx="12461558" cy="7557511"/>
          </a:xfrm>
          <a:custGeom>
            <a:avLst/>
            <a:gdLst/>
            <a:ahLst/>
            <a:cxnLst/>
            <a:rect r="r" b="b" t="t" l="l"/>
            <a:pathLst>
              <a:path h="7557511" w="12461558">
                <a:moveTo>
                  <a:pt x="0" y="0"/>
                </a:moveTo>
                <a:lnTo>
                  <a:pt x="12461558" y="0"/>
                </a:lnTo>
                <a:lnTo>
                  <a:pt x="12461558" y="7557511"/>
                </a:lnTo>
                <a:lnTo>
                  <a:pt x="0" y="75575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</p:spTree>
  </p:cSld>
  <p:clrMapOvr>
    <a:masterClrMapping/>
  </p:clrMapOvr>
</p:sld>
</file>

<file path=ppt/slides/slide1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31094" y="1251364"/>
            <a:ext cx="10869304" cy="8211919"/>
          </a:xfrm>
          <a:custGeom>
            <a:avLst/>
            <a:gdLst/>
            <a:ahLst/>
            <a:cxnLst/>
            <a:rect r="r" b="b" t="t" l="l"/>
            <a:pathLst>
              <a:path h="8211919" w="10869304">
                <a:moveTo>
                  <a:pt x="0" y="0"/>
                </a:moveTo>
                <a:lnTo>
                  <a:pt x="10869304" y="0"/>
                </a:lnTo>
                <a:lnTo>
                  <a:pt x="10869304" y="8211919"/>
                </a:lnTo>
                <a:lnTo>
                  <a:pt x="0" y="8211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functions</a:t>
            </a:r>
          </a:p>
        </p:txBody>
      </p:sp>
    </p:spTree>
  </p:cSld>
  <p:clrMapOvr>
    <a:masterClrMapping/>
  </p:clrMapOvr>
</p:sld>
</file>

<file path=ppt/slides/slide1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5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97719" y="-3719573"/>
            <a:ext cx="11892632" cy="17726146"/>
          </a:xfrm>
          <a:custGeom>
            <a:avLst/>
            <a:gdLst/>
            <a:ahLst/>
            <a:cxnLst/>
            <a:rect r="r" b="b" t="t" l="l"/>
            <a:pathLst>
              <a:path h="17726146" w="11892632">
                <a:moveTo>
                  <a:pt x="0" y="0"/>
                </a:moveTo>
                <a:lnTo>
                  <a:pt x="11892632" y="0"/>
                </a:lnTo>
                <a:lnTo>
                  <a:pt x="11892632" y="17726146"/>
                </a:lnTo>
                <a:lnTo>
                  <a:pt x="0" y="17726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587559"/>
            <a:ext cx="7882760" cy="335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6"/>
              </a:lnSpc>
            </a:pPr>
            <a:r>
              <a:rPr lang="en-US" sz="12976" spc="-259" b="true">
                <a:solidFill>
                  <a:srgbClr val="F6F6E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scopes and closures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665183" y="1028700"/>
            <a:ext cx="8229600" cy="82296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9B7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27481" y="1590998"/>
            <a:ext cx="7105005" cy="71050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50000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295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Scope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generally refers to the context in which code is being executed.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JavaScript has four scopes: function scope (also called local scope), block scope, module scope, and global scope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174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SCOPE AND CLOSURES</a:t>
            </a:r>
          </a:p>
          <a:p>
            <a:pPr algn="l">
              <a:lnSpc>
                <a:spcPts val="673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9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Since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ES6, JavaScript has had block-level scope. That is, in JavaScript, variables defined within an if {} block or a for {} loop block using the let or const keywords are only available within the block in which they are defined.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But if declared with var (or with no keywords) within a block, then it will be available outside the block. 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174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SCOPE AND CLOSURES</a:t>
            </a:r>
          </a:p>
          <a:p>
            <a:pPr algn="l">
              <a:lnSpc>
                <a:spcPts val="673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345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If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an identifier has global scope, it is available everywhere.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Scope in JavaScript is sometimes referred to as lexical scope because the scope is defined by the placement of identifiers at design (and then compile) time, not at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run-time.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174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SCOPE AND CLOSURES</a:t>
            </a:r>
          </a:p>
          <a:p>
            <a:pPr algn="l">
              <a:lnSpc>
                <a:spcPts val="673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59525" y="623225"/>
            <a:ext cx="10218194" cy="8818746"/>
          </a:xfrm>
          <a:custGeom>
            <a:avLst/>
            <a:gdLst/>
            <a:ahLst/>
            <a:cxnLst/>
            <a:rect r="r" b="b" t="t" l="l"/>
            <a:pathLst>
              <a:path h="8818746" w="10218194">
                <a:moveTo>
                  <a:pt x="0" y="0"/>
                </a:moveTo>
                <a:lnTo>
                  <a:pt x="10218194" y="0"/>
                </a:lnTo>
                <a:lnTo>
                  <a:pt x="10218194" y="8818746"/>
                </a:lnTo>
                <a:lnTo>
                  <a:pt x="0" y="88187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 scope</a:t>
            </a:r>
          </a:p>
        </p:txBody>
      </p:sp>
    </p:spTree>
  </p:cSld>
  <p:clrMapOvr>
    <a:masterClrMapping/>
  </p:clrMapOvr>
</p:sld>
</file>

<file path=ppt/slides/slide1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10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3" y="0"/>
                </a:lnTo>
                <a:lnTo>
                  <a:pt x="8732753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74526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12229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t="0" r="-25187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479919" y="4432109"/>
            <a:ext cx="9779381" cy="246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2799">
                <a:solidFill>
                  <a:srgbClr val="272727"/>
                </a:solidFill>
                <a:latin typeface="TT Fors"/>
                <a:ea typeface="TT Fors"/>
                <a:cs typeface="TT Fors"/>
                <a:sym typeface="TT Fors"/>
              </a:rPr>
              <a:t> closure is actually an object consisting of the scope environment in which the function is created; that is, a closure is a function that has an implicitly permanent link between itself and its scope chain.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479919" y="3525710"/>
            <a:ext cx="9779381" cy="174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800" spc="-136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SCOPE AND CLOSURES</a:t>
            </a:r>
          </a:p>
          <a:p>
            <a:pPr algn="l">
              <a:lnSpc>
                <a:spcPts val="673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026508"/>
            <a:ext cx="6770424" cy="5388655"/>
          </a:xfrm>
          <a:custGeom>
            <a:avLst/>
            <a:gdLst/>
            <a:ahLst/>
            <a:cxnLst/>
            <a:rect r="r" b="b" t="t" l="l"/>
            <a:pathLst>
              <a:path h="5388655" w="6770424">
                <a:moveTo>
                  <a:pt x="0" y="0"/>
                </a:moveTo>
                <a:lnTo>
                  <a:pt x="6770424" y="0"/>
                </a:lnTo>
                <a:lnTo>
                  <a:pt x="6770424" y="5388655"/>
                </a:lnTo>
                <a:lnTo>
                  <a:pt x="0" y="5388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39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16387" y="3050430"/>
            <a:ext cx="4798758" cy="5340810"/>
          </a:xfrm>
          <a:custGeom>
            <a:avLst/>
            <a:gdLst/>
            <a:ahLst/>
            <a:cxnLst/>
            <a:rect r="r" b="b" t="t" l="l"/>
            <a:pathLst>
              <a:path h="5340810" w="4798758">
                <a:moveTo>
                  <a:pt x="0" y="0"/>
                </a:moveTo>
                <a:lnTo>
                  <a:pt x="4798758" y="0"/>
                </a:lnTo>
                <a:lnTo>
                  <a:pt x="4798758" y="5340810"/>
                </a:lnTo>
                <a:lnTo>
                  <a:pt x="0" y="53408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656922"/>
            <a:ext cx="9736232" cy="9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6799" spc="-135" b="true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function closure</a:t>
            </a:r>
          </a:p>
        </p:txBody>
      </p:sp>
    </p:spTree>
  </p:cSld>
  <p:clrMapOvr>
    <a:masterClrMapping/>
  </p:clrMapOvr>
</p:sld>
</file>

<file path=ppt/slides/slide1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D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946346"/>
            <a:ext cx="8605034" cy="216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73"/>
              </a:lnSpc>
            </a:pPr>
            <a:r>
              <a:rPr lang="en-US" b="true" sz="16134" spc="-322">
                <a:solidFill>
                  <a:srgbClr val="12121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66518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4" y="0"/>
                </a:lnTo>
                <a:lnTo>
                  <a:pt x="8732754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916760" y="1028700"/>
            <a:ext cx="8229600" cy="82296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9057" y="1590998"/>
            <a:ext cx="7105005" cy="71050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7032" t="-20814" r="-53963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502700" y="-4791631"/>
            <a:ext cx="4598385" cy="6853961"/>
          </a:xfrm>
          <a:custGeom>
            <a:avLst/>
            <a:gdLst/>
            <a:ahLst/>
            <a:cxnLst/>
            <a:rect r="r" b="b" t="t" l="l"/>
            <a:pathLst>
              <a:path h="6853961" w="4598385">
                <a:moveTo>
                  <a:pt x="0" y="0"/>
                </a:moveTo>
                <a:lnTo>
                  <a:pt x="4598385" y="0"/>
                </a:lnTo>
                <a:lnTo>
                  <a:pt x="4598385" y="6853962"/>
                </a:lnTo>
                <a:lnTo>
                  <a:pt x="0" y="6853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43591" y="8957310"/>
            <a:ext cx="3321592" cy="4950883"/>
          </a:xfrm>
          <a:custGeom>
            <a:avLst/>
            <a:gdLst/>
            <a:ahLst/>
            <a:cxnLst/>
            <a:rect r="r" b="b" t="t" l="l"/>
            <a:pathLst>
              <a:path h="4950883" w="3321592">
                <a:moveTo>
                  <a:pt x="0" y="0"/>
                </a:moveTo>
                <a:lnTo>
                  <a:pt x="3321592" y="0"/>
                </a:lnTo>
                <a:lnTo>
                  <a:pt x="3321592" y="4950883"/>
                </a:lnTo>
                <a:lnTo>
                  <a:pt x="0" y="49508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DAHSQSE8Ofc</dc:identifier>
  <dcterms:modified xsi:type="dcterms:W3CDTF">2011-08-01T06:04:30Z</dcterms:modified>
  <cp:revision>1</cp:revision>
  <dc:title>[ITE41] LAB04: JavaScript Basics</dc:title>
</cp:coreProperties>
</file>