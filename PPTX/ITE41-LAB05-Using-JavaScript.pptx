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slide+xml" PartName="/ppt/slides/slide74.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77.xml"/>
  <Override ContentType="application/vnd.openxmlformats-officedocument.presentationml.slide+xml" PartName="/ppt/slides/slide78.xml"/>
  <Override ContentType="application/vnd.openxmlformats-officedocument.presentationml.slide+xml" PartName="/ppt/slides/slide79.xml"/>
  <Override ContentType="application/vnd.openxmlformats-officedocument.presentationml.slide+xml" PartName="/ppt/slides/slide80.xml"/>
  <Override ContentType="application/vnd.openxmlformats-officedocument.presentationml.slide+xml" PartName="/ppt/slides/slide81.xml"/>
  <Override ContentType="application/vnd.openxmlformats-officedocument.presentationml.slide+xml" PartName="/ppt/slides/slide82.xml"/>
  <Override ContentType="application/vnd.openxmlformats-officedocument.presentationml.slide+xml" PartName="/ppt/slides/slide83.xml"/>
  <Override ContentType="application/vnd.openxmlformats-officedocument.presentationml.slide+xml" PartName="/ppt/slides/slide84.xml"/>
  <Override ContentType="application/vnd.openxmlformats-officedocument.presentationml.slide+xml" PartName="/ppt/slides/slide85.xml"/>
  <Override ContentType="application/vnd.openxmlformats-officedocument.presentationml.slide+xml" PartName="/ppt/slides/slide86.xml"/>
  <Override ContentType="application/vnd.openxmlformats-officedocument.presentationml.slide+xml" PartName="/ppt/slides/slide87.xml"/>
  <Override ContentType="application/vnd.openxmlformats-officedocument.presentationml.slide+xml" PartName="/ppt/slides/slide88.xml"/>
  <Override ContentType="application/vnd.openxmlformats-officedocument.presentationml.slide+xml" PartName="/ppt/slides/slide89.xml"/>
  <Override ContentType="application/vnd.openxmlformats-officedocument.presentationml.slide+xml" PartName="/ppt/slides/slide90.xml"/>
  <Override ContentType="application/vnd.openxmlformats-officedocument.presentationml.slide+xml" PartName="/ppt/slides/slide91.xml"/>
  <Override ContentType="application/vnd.openxmlformats-officedocument.presentationml.slide+xml" PartName="/ppt/slides/slide92.xml"/>
  <Override ContentType="application/vnd.openxmlformats-officedocument.presentationml.slide+xml" PartName="/ppt/slides/slide93.xml"/>
  <Override ContentType="application/vnd.openxmlformats-officedocument.presentationml.slide+xml" PartName="/ppt/slides/slide94.xml"/>
  <Override ContentType="application/vnd.openxmlformats-officedocument.presentationml.slide+xml" PartName="/ppt/slides/slide95.xml"/>
  <Override ContentType="application/vnd.openxmlformats-officedocument.presentationml.slide+xml" PartName="/ppt/slides/slide9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Lst>
  <p:sldSz cx="18288000" cy="10287000"/>
  <p:notesSz cx="6858000" cy="9144000"/>
  <p:embeddedFontLst>
    <p:embeddedFont>
      <p:font typeface="Bebas Neue Bold" charset="1" panose="020B0606020202050201"/>
      <p:regular r:id="rId102"/>
    </p:embeddedFont>
    <p:embeddedFont>
      <p:font typeface="TT Fors" charset="1" panose="020B0003030001020000"/>
      <p:regular r:id="rId103"/>
    </p:embeddedFont>
    <p:embeddedFont>
      <p:font typeface="TT Fors Italics" charset="1" panose="020B0003030001020000"/>
      <p:regular r:id="rId104"/>
    </p:embeddedFont>
    <p:embeddedFont>
      <p:font typeface="TT Fors Bold" charset="1" panose="020B0003030001020000"/>
      <p:regular r:id="rId10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slides/slide95.xml" Type="http://schemas.openxmlformats.org/officeDocument/2006/relationships/slide"/><Relationship Id="rId101" Target="slides/slide96.xml" Type="http://schemas.openxmlformats.org/officeDocument/2006/relationships/slide"/><Relationship Id="rId102" Target="fonts/font102.fntdata" Type="http://schemas.openxmlformats.org/officeDocument/2006/relationships/font"/><Relationship Id="rId103" Target="fonts/font103.fntdata" Type="http://schemas.openxmlformats.org/officeDocument/2006/relationships/font"/><Relationship Id="rId104" Target="fonts/font104.fntdata" Type="http://schemas.openxmlformats.org/officeDocument/2006/relationships/font"/><Relationship Id="rId105" Target="fonts/font105.fntdata" Type="http://schemas.openxmlformats.org/officeDocument/2006/relationships/font"/><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slides/slide71.xml" Type="http://schemas.openxmlformats.org/officeDocument/2006/relationships/slide"/><Relationship Id="rId77" Target="slides/slide72.xml" Type="http://schemas.openxmlformats.org/officeDocument/2006/relationships/slide"/><Relationship Id="rId78" Target="slides/slide73.xml" Type="http://schemas.openxmlformats.org/officeDocument/2006/relationships/slide"/><Relationship Id="rId79" Target="slides/slide74.xml" Type="http://schemas.openxmlformats.org/officeDocument/2006/relationships/slide"/><Relationship Id="rId8" Target="slides/slide3.xml" Type="http://schemas.openxmlformats.org/officeDocument/2006/relationships/slide"/><Relationship Id="rId80" Target="slides/slide75.xml" Type="http://schemas.openxmlformats.org/officeDocument/2006/relationships/slide"/><Relationship Id="rId81" Target="slides/slide76.xml" Type="http://schemas.openxmlformats.org/officeDocument/2006/relationships/slide"/><Relationship Id="rId82" Target="slides/slide77.xml" Type="http://schemas.openxmlformats.org/officeDocument/2006/relationships/slide"/><Relationship Id="rId83" Target="slides/slide78.xml" Type="http://schemas.openxmlformats.org/officeDocument/2006/relationships/slide"/><Relationship Id="rId84" Target="slides/slide79.xml" Type="http://schemas.openxmlformats.org/officeDocument/2006/relationships/slide"/><Relationship Id="rId85" Target="slides/slide80.xml" Type="http://schemas.openxmlformats.org/officeDocument/2006/relationships/slide"/><Relationship Id="rId86" Target="slides/slide81.xml" Type="http://schemas.openxmlformats.org/officeDocument/2006/relationships/slide"/><Relationship Id="rId87" Target="slides/slide82.xml" Type="http://schemas.openxmlformats.org/officeDocument/2006/relationships/slide"/><Relationship Id="rId88" Target="slides/slide83.xml" Type="http://schemas.openxmlformats.org/officeDocument/2006/relationships/slide"/><Relationship Id="rId89" Target="slides/slide84.xml" Type="http://schemas.openxmlformats.org/officeDocument/2006/relationships/slide"/><Relationship Id="rId9" Target="slides/slide4.xml" Type="http://schemas.openxmlformats.org/officeDocument/2006/relationships/slide"/><Relationship Id="rId90" Target="slides/slide85.xml" Type="http://schemas.openxmlformats.org/officeDocument/2006/relationships/slide"/><Relationship Id="rId91" Target="slides/slide86.xml" Type="http://schemas.openxmlformats.org/officeDocument/2006/relationships/slide"/><Relationship Id="rId92" Target="slides/slide87.xml" Type="http://schemas.openxmlformats.org/officeDocument/2006/relationships/slide"/><Relationship Id="rId93" Target="slides/slide88.xml" Type="http://schemas.openxmlformats.org/officeDocument/2006/relationships/slide"/><Relationship Id="rId94" Target="slides/slide89.xml" Type="http://schemas.openxmlformats.org/officeDocument/2006/relationships/slide"/><Relationship Id="rId95" Target="slides/slide90.xml" Type="http://schemas.openxmlformats.org/officeDocument/2006/relationships/slide"/><Relationship Id="rId96" Target="slides/slide91.xml" Type="http://schemas.openxmlformats.org/officeDocument/2006/relationships/slide"/><Relationship Id="rId97" Target="slides/slide92.xml" Type="http://schemas.openxmlformats.org/officeDocument/2006/relationships/slide"/><Relationship Id="rId98" Target="slides/slide93.xml" Type="http://schemas.openxmlformats.org/officeDocument/2006/relationships/slide"/><Relationship Id="rId99" Target="slides/slide9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7.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8.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9.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0.png" Type="http://schemas.openxmlformats.org/officeDocument/2006/relationships/image"/><Relationship Id="rId5" Target="../media/image31.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2.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3.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6.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7.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8.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9.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40.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41.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42.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 Id="rId5" Target="../media/image43.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 Id="rId5" Target="../media/image44.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 Id="rId5" Target="../media/image45.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 Id="rId5" Target="../media/image46.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 Id="rId5" Target="../media/image47.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48.pn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jpe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49.pn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 Id="rId5" Target="../media/image50.pn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51.pn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52.pn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53.png" Type="http://schemas.openxmlformats.org/officeDocument/2006/relationships/image"/></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jpeg" Type="http://schemas.openxmlformats.org/officeDocument/2006/relationships/image"/></Relationships>
</file>

<file path=ppt/slides/_rels/slide7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7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54.png" Type="http://schemas.openxmlformats.org/officeDocument/2006/relationships/image"/></Relationships>
</file>

<file path=ppt/slides/_rels/slide7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55.png" Type="http://schemas.openxmlformats.org/officeDocument/2006/relationships/image"/></Relationships>
</file>

<file path=ppt/slides/_rels/slide7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56.png" Type="http://schemas.openxmlformats.org/officeDocument/2006/relationships/image"/></Relationships>
</file>

<file path=ppt/slides/_rels/slide7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7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7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57.png" Type="http://schemas.openxmlformats.org/officeDocument/2006/relationships/image"/></Relationships>
</file>

<file path=ppt/slides/_rels/slide7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7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58.png" Type="http://schemas.openxmlformats.org/officeDocument/2006/relationships/image"/></Relationships>
</file>

<file path=ppt/slides/_rels/slide8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8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59.png" Type="http://schemas.openxmlformats.org/officeDocument/2006/relationships/image"/></Relationships>
</file>

<file path=ppt/slides/_rels/slide8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8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60.png" Type="http://schemas.openxmlformats.org/officeDocument/2006/relationships/image"/></Relationships>
</file>

<file path=ppt/slides/_rels/slide8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8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61.png" Type="http://schemas.openxmlformats.org/officeDocument/2006/relationships/image"/></Relationships>
</file>

<file path=ppt/slides/_rels/slide8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8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62.png" Type="http://schemas.openxmlformats.org/officeDocument/2006/relationships/image"/></Relationships>
</file>

<file path=ppt/slides/_rels/slide8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jpeg" Type="http://schemas.openxmlformats.org/officeDocument/2006/relationships/image"/></Relationships>
</file>

<file path=ppt/slides/_rels/slide8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9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9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63.png" Type="http://schemas.openxmlformats.org/officeDocument/2006/relationships/image"/></Relationships>
</file>

<file path=ppt/slides/_rels/slide9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64.png" Type="http://schemas.openxmlformats.org/officeDocument/2006/relationships/image"/><Relationship Id="rId5" Target="../media/image65.png" Type="http://schemas.openxmlformats.org/officeDocument/2006/relationships/image"/></Relationships>
</file>

<file path=ppt/slides/_rels/slide9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9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66.png" Type="http://schemas.openxmlformats.org/officeDocument/2006/relationships/image"/></Relationships>
</file>

<file path=ppt/slides/_rels/slide9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67.png" Type="http://schemas.openxmlformats.org/officeDocument/2006/relationships/image"/></Relationships>
</file>

<file path=ppt/slides/_rels/slide9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png" Type="http://schemas.openxmlformats.org/officeDocument/2006/relationships/image"/><Relationship Id="rId3" Target="../media/image69.svg" Type="http://schemas.openxmlformats.org/officeDocument/2006/relationships/image"/><Relationship Id="rId4" Target="../media/image70.jpeg" Type="http://schemas.openxmlformats.org/officeDocument/2006/relationships/image"/><Relationship Id="rId5" Target="../media/image71.png" Type="http://schemas.openxmlformats.org/officeDocument/2006/relationships/image"/><Relationship Id="rId6" Target="../media/image7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72727"/>
        </a:solidFill>
      </p:bgPr>
    </p:bg>
    <p:spTree>
      <p:nvGrpSpPr>
        <p:cNvPr id="1" name=""/>
        <p:cNvGrpSpPr/>
        <p:nvPr/>
      </p:nvGrpSpPr>
      <p:grpSpPr>
        <a:xfrm>
          <a:off x="0" y="0"/>
          <a:ext cx="0" cy="0"/>
          <a:chOff x="0" y="0"/>
          <a:chExt cx="0" cy="0"/>
        </a:xfrm>
      </p:grpSpPr>
      <p:sp>
        <p:nvSpPr>
          <p:cNvPr name="Freeform 2" id="2"/>
          <p:cNvSpPr/>
          <p:nvPr/>
        </p:nvSpPr>
        <p:spPr>
          <a:xfrm flipH="false" flipV="false" rot="0">
            <a:off x="9665183" y="-1364650"/>
            <a:ext cx="8732754" cy="13016300"/>
          </a:xfrm>
          <a:custGeom>
            <a:avLst/>
            <a:gdLst/>
            <a:ahLst/>
            <a:cxnLst/>
            <a:rect r="r" b="b" t="t" l="l"/>
            <a:pathLst>
              <a:path h="13016300" w="8732754">
                <a:moveTo>
                  <a:pt x="0" y="0"/>
                </a:moveTo>
                <a:lnTo>
                  <a:pt x="8732754" y="0"/>
                </a:lnTo>
                <a:lnTo>
                  <a:pt x="8732754"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916760"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1212"/>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479057"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46" t="0" r="-25046" b="0"/>
              </a:stretch>
            </a:blipFill>
            <a:ln w="238125" cap="sq">
              <a:solidFill>
                <a:srgbClr val="262262"/>
              </a:solidFill>
              <a:prstDash val="solid"/>
              <a:miter/>
            </a:ln>
          </p:spPr>
        </p:sp>
      </p:grpSp>
      <p:sp>
        <p:nvSpPr>
          <p:cNvPr name="TextBox 8" id="8"/>
          <p:cNvSpPr txBox="true"/>
          <p:nvPr/>
        </p:nvSpPr>
        <p:spPr>
          <a:xfrm rot="0">
            <a:off x="1028700" y="3213810"/>
            <a:ext cx="9602250" cy="4183229"/>
          </a:xfrm>
          <a:prstGeom prst="rect">
            <a:avLst/>
          </a:prstGeom>
        </p:spPr>
        <p:txBody>
          <a:bodyPr anchor="t" rtlCol="false" tIns="0" lIns="0" bIns="0" rIns="0">
            <a:spAutoFit/>
          </a:bodyPr>
          <a:lstStyle/>
          <a:p>
            <a:pPr algn="l">
              <a:lnSpc>
                <a:spcPts val="15973"/>
              </a:lnSpc>
            </a:pPr>
            <a:r>
              <a:rPr lang="en-US" sz="16134" spc="-322" b="true">
                <a:solidFill>
                  <a:srgbClr val="F6F6E9"/>
                </a:solidFill>
                <a:latin typeface="Bebas Neue Bold"/>
                <a:ea typeface="Bebas Neue Bold"/>
                <a:cs typeface="Bebas Neue Bold"/>
                <a:sym typeface="Bebas Neue Bold"/>
              </a:rPr>
              <a:t>using javascript</a:t>
            </a:r>
          </a:p>
        </p:txBody>
      </p:sp>
      <p:sp>
        <p:nvSpPr>
          <p:cNvPr name="Freeform 9" id="9"/>
          <p:cNvSpPr/>
          <p:nvPr/>
        </p:nvSpPr>
        <p:spPr>
          <a:xfrm flipH="false" flipV="false" rot="0">
            <a:off x="4502700" y="-4791631"/>
            <a:ext cx="4598385" cy="6853961"/>
          </a:xfrm>
          <a:custGeom>
            <a:avLst/>
            <a:gdLst/>
            <a:ahLst/>
            <a:cxnLst/>
            <a:rect r="r" b="b" t="t" l="l"/>
            <a:pathLst>
              <a:path h="6853961" w="4598385">
                <a:moveTo>
                  <a:pt x="0" y="0"/>
                </a:moveTo>
                <a:lnTo>
                  <a:pt x="4598385" y="0"/>
                </a:lnTo>
                <a:lnTo>
                  <a:pt x="4598385" y="6853962"/>
                </a:lnTo>
                <a:lnTo>
                  <a:pt x="0" y="68539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6343591" y="8957310"/>
            <a:ext cx="3321592" cy="4950883"/>
          </a:xfrm>
          <a:custGeom>
            <a:avLst/>
            <a:gdLst/>
            <a:ahLst/>
            <a:cxnLst/>
            <a:rect r="r" b="b" t="t" l="l"/>
            <a:pathLst>
              <a:path h="4950883" w="3321592">
                <a:moveTo>
                  <a:pt x="0" y="0"/>
                </a:moveTo>
                <a:lnTo>
                  <a:pt x="3321592" y="0"/>
                </a:lnTo>
                <a:lnTo>
                  <a:pt x="3321592" y="4950883"/>
                </a:lnTo>
                <a:lnTo>
                  <a:pt x="0" y="49508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F5014"/>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97719" y="-3719573"/>
            <a:ext cx="11892632" cy="17726146"/>
          </a:xfrm>
          <a:custGeom>
            <a:avLst/>
            <a:gdLst/>
            <a:ahLst/>
            <a:cxnLst/>
            <a:rect r="r" b="b" t="t" l="l"/>
            <a:pathLst>
              <a:path h="17726146" w="11892632">
                <a:moveTo>
                  <a:pt x="0" y="0"/>
                </a:moveTo>
                <a:lnTo>
                  <a:pt x="11892632" y="0"/>
                </a:lnTo>
                <a:lnTo>
                  <a:pt x="11892632" y="17726146"/>
                </a:lnTo>
                <a:lnTo>
                  <a:pt x="0" y="17726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61240" y="4402835"/>
            <a:ext cx="7882760" cy="1728981"/>
          </a:xfrm>
          <a:prstGeom prst="rect">
            <a:avLst/>
          </a:prstGeom>
        </p:spPr>
        <p:txBody>
          <a:bodyPr anchor="t" rtlCol="false" tIns="0" lIns="0" bIns="0" rIns="0">
            <a:spAutoFit/>
          </a:bodyPr>
          <a:lstStyle/>
          <a:p>
            <a:pPr algn="l">
              <a:lnSpc>
                <a:spcPts val="12846"/>
              </a:lnSpc>
            </a:pPr>
            <a:r>
              <a:rPr lang="en-US" sz="12976" spc="-259" b="true">
                <a:solidFill>
                  <a:srgbClr val="F6F6E9"/>
                </a:solidFill>
                <a:latin typeface="Bebas Neue Bold"/>
                <a:ea typeface="Bebas Neue Bold"/>
                <a:cs typeface="Bebas Neue Bold"/>
                <a:sym typeface="Bebas Neue Bold"/>
              </a:rPr>
              <a:t>dom</a:t>
            </a:r>
          </a:p>
        </p:txBody>
      </p:sp>
      <p:grpSp>
        <p:nvGrpSpPr>
          <p:cNvPr name="Group 4" id="4"/>
          <p:cNvGrpSpPr/>
          <p:nvPr/>
        </p:nvGrpSpPr>
        <p:grpSpPr>
          <a:xfrm rot="0">
            <a:off x="9665183" y="1028700"/>
            <a:ext cx="8229600" cy="822960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9B76"/>
            </a:solidFill>
          </p:spPr>
        </p:sp>
        <p:sp>
          <p:nvSpPr>
            <p:cNvPr name="TextBox 6" id="6"/>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7" id="7"/>
          <p:cNvGrpSpPr/>
          <p:nvPr/>
        </p:nvGrpSpPr>
        <p:grpSpPr>
          <a:xfrm rot="0">
            <a:off x="10227481" y="1590998"/>
            <a:ext cx="7105005" cy="7105005"/>
            <a:chOff x="0" y="0"/>
            <a:chExt cx="812800" cy="812800"/>
          </a:xfrm>
        </p:grpSpPr>
        <p:sp>
          <p:nvSpPr>
            <p:cNvPr name="Freeform 8" id="8"/>
            <p:cNvSpPr/>
            <p:nvPr/>
          </p:nvSpPr>
          <p:spPr>
            <a:xfrm flipH="true" flipV="false" rot="0">
              <a:off x="0" y="0"/>
              <a:ext cx="812800" cy="812800"/>
            </a:xfrm>
            <a:custGeom>
              <a:avLst/>
              <a:gdLst/>
              <a:ahLst/>
              <a:cxnLst/>
              <a:rect r="r" b="b" t="t" l="l"/>
              <a:pathLst>
                <a:path h="812800" w="812800">
                  <a:moveTo>
                    <a:pt x="406400" y="0"/>
                  </a:moveTo>
                  <a:cubicBezTo>
                    <a:pt x="630849" y="0"/>
                    <a:pt x="812800" y="181951"/>
                    <a:pt x="812800" y="406400"/>
                  </a:cubicBezTo>
                  <a:cubicBezTo>
                    <a:pt x="812800" y="630849"/>
                    <a:pt x="630849" y="812800"/>
                    <a:pt x="406400" y="812800"/>
                  </a:cubicBezTo>
                  <a:cubicBezTo>
                    <a:pt x="181951" y="812800"/>
                    <a:pt x="0" y="630849"/>
                    <a:pt x="0" y="406400"/>
                  </a:cubicBezTo>
                  <a:cubicBezTo>
                    <a:pt x="0" y="181951"/>
                    <a:pt x="181951" y="0"/>
                    <a:pt x="406400" y="0"/>
                  </a:cubicBezTo>
                  <a:close/>
                </a:path>
              </a:pathLst>
            </a:custGeom>
            <a:blipFill>
              <a:blip r:embed="rId4"/>
              <a:stretch>
                <a:fillRect l="0" t="0" r="-50000" b="0"/>
              </a:stretch>
            </a:blipFill>
            <a:ln w="238125" cap="sq">
              <a:solidFill>
                <a:srgbClr val="262262"/>
              </a:solidFill>
              <a:prstDash val="solid"/>
              <a:miter/>
            </a:ln>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2957992"/>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According to the W3C, the DOM is a</a:t>
            </a:r>
          </a:p>
          <a:p>
            <a:pPr algn="just">
              <a:lnSpc>
                <a:spcPts val="3919"/>
              </a:lnSpc>
            </a:pPr>
          </a:p>
          <a:p>
            <a:pPr algn="just">
              <a:lnSpc>
                <a:spcPts val="3919"/>
              </a:lnSpc>
            </a:pPr>
            <a:r>
              <a:rPr lang="en-US" sz="2799" i="true">
                <a:solidFill>
                  <a:srgbClr val="272727"/>
                </a:solidFill>
                <a:latin typeface="TT Fors Italics"/>
                <a:ea typeface="TT Fors Italics"/>
                <a:cs typeface="TT Fors Italics"/>
                <a:sym typeface="TT Fors Italics"/>
              </a:rPr>
              <a:t>platform- and language-neutral interface</a:t>
            </a:r>
            <a:r>
              <a:rPr lang="en-US" sz="2799" i="true">
                <a:solidFill>
                  <a:srgbClr val="272727"/>
                </a:solidFill>
                <a:latin typeface="TT Fors Italics"/>
                <a:ea typeface="TT Fors Italics"/>
                <a:cs typeface="TT Fors Italics"/>
                <a:sym typeface="TT Fors Italics"/>
              </a:rPr>
              <a:t> that will allow programs and scripts to dynamically access and update the content, structure and style of documents.</a:t>
            </a: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document object model</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2259" y="2732282"/>
            <a:ext cx="15563482" cy="7198110"/>
          </a:xfrm>
          <a:custGeom>
            <a:avLst/>
            <a:gdLst/>
            <a:ahLst/>
            <a:cxnLst/>
            <a:rect r="r" b="b" t="t" l="l"/>
            <a:pathLst>
              <a:path h="7198110" w="15563482">
                <a:moveTo>
                  <a:pt x="0" y="0"/>
                </a:moveTo>
                <a:lnTo>
                  <a:pt x="15563482" y="0"/>
                </a:lnTo>
                <a:lnTo>
                  <a:pt x="15563482" y="7198111"/>
                </a:lnTo>
                <a:lnTo>
                  <a:pt x="0" y="7198111"/>
                </a:lnTo>
                <a:lnTo>
                  <a:pt x="0" y="0"/>
                </a:lnTo>
                <a:close/>
              </a:path>
            </a:pathLst>
          </a:custGeom>
          <a:blipFill>
            <a:blip r:embed="rId4"/>
            <a:stretch>
              <a:fillRect l="0" t="0" r="0" b="0"/>
            </a:stretch>
          </a:blipFill>
        </p:spPr>
      </p:sp>
      <p:sp>
        <p:nvSpPr>
          <p:cNvPr name="TextBox 5" id="5"/>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dom tree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4443973"/>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In the DOM, each element within the HTML document is called a node</a:t>
            </a:r>
          </a:p>
          <a:p>
            <a:pPr algn="just">
              <a:lnSpc>
                <a:spcPts val="3919"/>
              </a:lnSpc>
            </a:pPr>
          </a:p>
          <a:p>
            <a:pPr algn="just">
              <a:lnSpc>
                <a:spcPts val="3919"/>
              </a:lnSpc>
            </a:pPr>
            <a:r>
              <a:rPr lang="en-US" sz="2799">
                <a:solidFill>
                  <a:srgbClr val="272727"/>
                </a:solidFill>
                <a:latin typeface="TT Fors"/>
                <a:ea typeface="TT Fors"/>
                <a:cs typeface="TT Fors"/>
                <a:sym typeface="TT Fors"/>
              </a:rPr>
              <a:t>The DOM also defines a specialized object called a NodeList that represents a collection of nodes</a:t>
            </a:r>
          </a:p>
          <a:p>
            <a:pPr algn="just">
              <a:lnSpc>
                <a:spcPts val="3919"/>
              </a:lnSpc>
            </a:pPr>
          </a:p>
          <a:p>
            <a:pPr algn="just">
              <a:lnSpc>
                <a:spcPts val="3919"/>
              </a:lnSpc>
            </a:pPr>
            <a:r>
              <a:rPr lang="en-US" sz="2799">
                <a:solidFill>
                  <a:srgbClr val="272727"/>
                </a:solidFill>
                <a:latin typeface="TT Fors"/>
                <a:ea typeface="TT Fors"/>
                <a:cs typeface="TT Fors"/>
                <a:sym typeface="TT Fors"/>
              </a:rPr>
              <a:t>The DOM document object is the root JavaScript object representing the entire HTML document.</a:t>
            </a: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dom</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334191" y="1542622"/>
            <a:ext cx="11362484" cy="7204656"/>
          </a:xfrm>
          <a:custGeom>
            <a:avLst/>
            <a:gdLst/>
            <a:ahLst/>
            <a:cxnLst/>
            <a:rect r="r" b="b" t="t" l="l"/>
            <a:pathLst>
              <a:path h="7204656" w="11362484">
                <a:moveTo>
                  <a:pt x="0" y="0"/>
                </a:moveTo>
                <a:lnTo>
                  <a:pt x="11362484" y="0"/>
                </a:lnTo>
                <a:lnTo>
                  <a:pt x="11362484" y="7204656"/>
                </a:lnTo>
                <a:lnTo>
                  <a:pt x="0" y="7204656"/>
                </a:lnTo>
                <a:lnTo>
                  <a:pt x="0" y="0"/>
                </a:lnTo>
                <a:close/>
              </a:path>
            </a:pathLst>
          </a:custGeom>
          <a:blipFill>
            <a:blip r:embed="rId4"/>
            <a:stretch>
              <a:fillRect l="0" t="0" r="0" b="0"/>
            </a:stretch>
          </a:blipFill>
        </p:spPr>
      </p:sp>
      <p:sp>
        <p:nvSpPr>
          <p:cNvPr name="TextBox 5" id="5"/>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node objects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3948646"/>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Accessing</a:t>
            </a:r>
            <a:r>
              <a:rPr lang="en-US" sz="2799">
                <a:solidFill>
                  <a:srgbClr val="272727"/>
                </a:solidFill>
                <a:latin typeface="TT Fors"/>
                <a:ea typeface="TT Fors"/>
                <a:cs typeface="TT Fors"/>
                <a:sym typeface="TT Fors"/>
              </a:rPr>
              <a:t> properties:</a:t>
            </a:r>
          </a:p>
          <a:p>
            <a:pPr algn="just">
              <a:lnSpc>
                <a:spcPts val="3919"/>
              </a:lnSpc>
            </a:pPr>
          </a:p>
          <a:p>
            <a:pPr algn="just">
              <a:lnSpc>
                <a:spcPts val="3919"/>
              </a:lnSpc>
            </a:pPr>
            <a:r>
              <a:rPr lang="en-US" sz="2799">
                <a:solidFill>
                  <a:srgbClr val="272727"/>
                </a:solidFill>
                <a:latin typeface="TT Fors"/>
                <a:ea typeface="TT Fors"/>
                <a:cs typeface="TT Fors"/>
                <a:sym typeface="TT Fors"/>
              </a:rPr>
              <a:t>//u</a:t>
            </a:r>
            <a:r>
              <a:rPr lang="en-US" sz="2799">
                <a:solidFill>
                  <a:srgbClr val="272727"/>
                </a:solidFill>
                <a:latin typeface="TT Fors"/>
                <a:ea typeface="TT Fors"/>
                <a:cs typeface="TT Fors"/>
                <a:sym typeface="TT Fors"/>
              </a:rPr>
              <a:t>sing dot notation</a:t>
            </a:r>
          </a:p>
          <a:p>
            <a:pPr algn="just">
              <a:lnSpc>
                <a:spcPts val="3919"/>
              </a:lnSpc>
            </a:pPr>
            <a:r>
              <a:rPr lang="en-US" sz="2799">
                <a:solidFill>
                  <a:srgbClr val="272727"/>
                </a:solidFill>
                <a:latin typeface="TT Fors"/>
                <a:ea typeface="TT Fors"/>
                <a:cs typeface="TT Fors"/>
                <a:sym typeface="TT Fors"/>
              </a:rPr>
              <a:t>let a = document.URL;</a:t>
            </a:r>
          </a:p>
          <a:p>
            <a:pPr algn="just">
              <a:lnSpc>
                <a:spcPts val="3919"/>
              </a:lnSpc>
            </a:pPr>
          </a:p>
          <a:p>
            <a:pPr algn="just">
              <a:lnSpc>
                <a:spcPts val="3919"/>
              </a:lnSpc>
            </a:pPr>
            <a:r>
              <a:rPr lang="en-US" sz="2799">
                <a:solidFill>
                  <a:srgbClr val="272727"/>
                </a:solidFill>
                <a:latin typeface="TT Fors"/>
                <a:ea typeface="TT Fors"/>
                <a:cs typeface="TT Fors"/>
                <a:sym typeface="TT Fors"/>
              </a:rPr>
              <a:t>//u</a:t>
            </a:r>
            <a:r>
              <a:rPr lang="en-US" sz="2799">
                <a:solidFill>
                  <a:srgbClr val="272727"/>
                </a:solidFill>
                <a:latin typeface="TT Fors"/>
                <a:ea typeface="TT Fors"/>
                <a:cs typeface="TT Fors"/>
                <a:sym typeface="TT Fors"/>
              </a:rPr>
              <a:t>sing square bracket notation</a:t>
            </a:r>
          </a:p>
          <a:p>
            <a:pPr algn="just">
              <a:lnSpc>
                <a:spcPts val="3919"/>
              </a:lnSpc>
            </a:pPr>
            <a:r>
              <a:rPr lang="en-US" sz="2799">
                <a:solidFill>
                  <a:srgbClr val="272727"/>
                </a:solidFill>
                <a:latin typeface="TT Fors"/>
                <a:ea typeface="TT Fors"/>
                <a:cs typeface="TT Fors"/>
                <a:sym typeface="TT Fors"/>
              </a:rPr>
              <a:t>let b = document["inputEncoding"];</a:t>
            </a: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dom</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317462" y="3029697"/>
            <a:ext cx="11282358" cy="6007161"/>
          </a:xfrm>
          <a:custGeom>
            <a:avLst/>
            <a:gdLst/>
            <a:ahLst/>
            <a:cxnLst/>
            <a:rect r="r" b="b" t="t" l="l"/>
            <a:pathLst>
              <a:path h="6007161" w="11282358">
                <a:moveTo>
                  <a:pt x="0" y="0"/>
                </a:moveTo>
                <a:lnTo>
                  <a:pt x="11282358" y="0"/>
                </a:lnTo>
                <a:lnTo>
                  <a:pt x="11282358" y="6007162"/>
                </a:lnTo>
                <a:lnTo>
                  <a:pt x="0" y="6007162"/>
                </a:lnTo>
                <a:lnTo>
                  <a:pt x="0" y="0"/>
                </a:lnTo>
                <a:close/>
              </a:path>
            </a:pathLst>
          </a:custGeom>
          <a:blipFill>
            <a:blip r:embed="rId4"/>
            <a:stretch>
              <a:fillRect l="0" t="0" r="0" b="0"/>
            </a:stretch>
          </a:blipFill>
        </p:spPr>
      </p:sp>
      <p:sp>
        <p:nvSpPr>
          <p:cNvPr name="TextBox 5" id="5"/>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dom selection methods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255288" y="3059104"/>
            <a:ext cx="13004012" cy="6199196"/>
          </a:xfrm>
          <a:custGeom>
            <a:avLst/>
            <a:gdLst/>
            <a:ahLst/>
            <a:cxnLst/>
            <a:rect r="r" b="b" t="t" l="l"/>
            <a:pathLst>
              <a:path h="6199196" w="13004012">
                <a:moveTo>
                  <a:pt x="0" y="0"/>
                </a:moveTo>
                <a:lnTo>
                  <a:pt x="13004012" y="0"/>
                </a:lnTo>
                <a:lnTo>
                  <a:pt x="13004012" y="6199196"/>
                </a:lnTo>
                <a:lnTo>
                  <a:pt x="0" y="6199196"/>
                </a:lnTo>
                <a:lnTo>
                  <a:pt x="0" y="0"/>
                </a:lnTo>
                <a:close/>
              </a:path>
            </a:pathLst>
          </a:custGeom>
          <a:blipFill>
            <a:blip r:embed="rId4"/>
            <a:stretch>
              <a:fillRect l="0" t="0" r="0" b="0"/>
            </a:stretch>
          </a:blipFill>
        </p:spPr>
      </p:sp>
      <p:sp>
        <p:nvSpPr>
          <p:cNvPr name="TextBox 5" id="5"/>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dom selection methods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3453319"/>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Se</a:t>
            </a:r>
            <a:r>
              <a:rPr lang="en-US" sz="2799">
                <a:solidFill>
                  <a:srgbClr val="272727"/>
                </a:solidFill>
                <a:latin typeface="TT Fors"/>
                <a:ea typeface="TT Fors"/>
                <a:cs typeface="TT Fors"/>
                <a:sym typeface="TT Fors"/>
              </a:rPr>
              <a:t>lection methods</a:t>
            </a:r>
          </a:p>
          <a:p>
            <a:pPr algn="just">
              <a:lnSpc>
                <a:spcPts val="3919"/>
              </a:lnSpc>
            </a:pPr>
          </a:p>
          <a:p>
            <a:pPr algn="just">
              <a:lnSpc>
                <a:spcPts val="3919"/>
              </a:lnSpc>
            </a:pPr>
            <a:r>
              <a:rPr lang="en-US" sz="2799">
                <a:solidFill>
                  <a:srgbClr val="272727"/>
                </a:solidFill>
                <a:latin typeface="TT Fors"/>
                <a:ea typeface="TT Fors"/>
                <a:cs typeface="TT Fors"/>
                <a:sym typeface="TT Fors"/>
              </a:rPr>
              <a:t>The newer query</a:t>
            </a:r>
            <a:r>
              <a:rPr lang="en-US" sz="2799">
                <a:solidFill>
                  <a:srgbClr val="272727"/>
                </a:solidFill>
                <a:latin typeface="TT Fors"/>
                <a:ea typeface="TT Fors"/>
                <a:cs typeface="TT Fors"/>
                <a:sym typeface="TT Fors"/>
              </a:rPr>
              <a:t>Selec</a:t>
            </a:r>
            <a:r>
              <a:rPr lang="en-US" sz="2799">
                <a:solidFill>
                  <a:srgbClr val="272727"/>
                </a:solidFill>
                <a:latin typeface="TT Fors"/>
                <a:ea typeface="TT Fors"/>
                <a:cs typeface="TT Fors"/>
                <a:sym typeface="TT Fors"/>
              </a:rPr>
              <a:t>tor() and querySelectorAll() methods allow you to query for DOM elements much the same way you specify CSS styles and are now universally supported in all modern desktop and mobile browsers</a:t>
            </a: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DOM</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853015" y="1634165"/>
            <a:ext cx="9925492" cy="7446317"/>
          </a:xfrm>
          <a:custGeom>
            <a:avLst/>
            <a:gdLst/>
            <a:ahLst/>
            <a:cxnLst/>
            <a:rect r="r" b="b" t="t" l="l"/>
            <a:pathLst>
              <a:path h="7446317" w="9925492">
                <a:moveTo>
                  <a:pt x="0" y="0"/>
                </a:moveTo>
                <a:lnTo>
                  <a:pt x="9925492" y="0"/>
                </a:lnTo>
                <a:lnTo>
                  <a:pt x="9925492" y="7446316"/>
                </a:lnTo>
                <a:lnTo>
                  <a:pt x="0" y="7446316"/>
                </a:lnTo>
                <a:lnTo>
                  <a:pt x="0" y="0"/>
                </a:lnTo>
                <a:close/>
              </a:path>
            </a:pathLst>
          </a:custGeom>
          <a:blipFill>
            <a:blip r:embed="rId4"/>
            <a:stretch>
              <a:fillRect l="0" t="0" r="0" b="0"/>
            </a:stretch>
          </a:blipFill>
        </p:spPr>
      </p:sp>
      <p:sp>
        <p:nvSpPr>
          <p:cNvPr name="TextBox 5" id="5"/>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dom selection methods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3948646"/>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The type</a:t>
            </a:r>
            <a:r>
              <a:rPr lang="en-US" sz="2799">
                <a:solidFill>
                  <a:srgbClr val="272727"/>
                </a:solidFill>
                <a:latin typeface="TT Fors"/>
                <a:ea typeface="TT Fors"/>
                <a:cs typeface="TT Fors"/>
                <a:sym typeface="TT Fors"/>
              </a:rPr>
              <a:t> of object </a:t>
            </a:r>
            <a:r>
              <a:rPr lang="en-US" sz="2799">
                <a:solidFill>
                  <a:srgbClr val="272727"/>
                </a:solidFill>
                <a:latin typeface="TT Fors"/>
                <a:ea typeface="TT Fors"/>
                <a:cs typeface="TT Fors"/>
                <a:sym typeface="TT Fors"/>
              </a:rPr>
              <a:t>returned by the methods getElementById() and querySelector() is an Element Node object. </a:t>
            </a:r>
          </a:p>
          <a:p>
            <a:pPr algn="just">
              <a:lnSpc>
                <a:spcPts val="3919"/>
              </a:lnSpc>
            </a:pPr>
          </a:p>
          <a:p>
            <a:pPr algn="just">
              <a:lnSpc>
                <a:spcPts val="3919"/>
              </a:lnSpc>
            </a:pPr>
            <a:r>
              <a:rPr lang="en-US" sz="2799">
                <a:solidFill>
                  <a:srgbClr val="272727"/>
                </a:solidFill>
                <a:latin typeface="TT Fors"/>
                <a:ea typeface="TT Fors"/>
                <a:cs typeface="TT Fors"/>
                <a:sym typeface="TT Fors"/>
              </a:rPr>
              <a:t>This represents an HTML element in the hierarchy, contained between the opening &lt;&gt; and closing &lt;/&gt; tags for this element. </a:t>
            </a:r>
          </a:p>
          <a:p>
            <a:pPr algn="l">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DOM</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406335" y="2954476"/>
            <a:ext cx="11852965" cy="6303824"/>
          </a:xfrm>
          <a:custGeom>
            <a:avLst/>
            <a:gdLst/>
            <a:ahLst/>
            <a:cxnLst/>
            <a:rect r="r" b="b" t="t" l="l"/>
            <a:pathLst>
              <a:path h="6303824" w="11852965">
                <a:moveTo>
                  <a:pt x="0" y="0"/>
                </a:moveTo>
                <a:lnTo>
                  <a:pt x="11852965" y="0"/>
                </a:lnTo>
                <a:lnTo>
                  <a:pt x="11852965" y="6303824"/>
                </a:lnTo>
                <a:lnTo>
                  <a:pt x="0" y="6303824"/>
                </a:lnTo>
                <a:lnTo>
                  <a:pt x="0" y="0"/>
                </a:lnTo>
                <a:close/>
              </a:path>
            </a:pathLst>
          </a:custGeom>
          <a:blipFill>
            <a:blip r:embed="rId4"/>
            <a:stretch>
              <a:fillRect l="0" t="0" r="0" b="0"/>
            </a:stretch>
          </a:blipFill>
        </p:spPr>
      </p:sp>
      <p:sp>
        <p:nvSpPr>
          <p:cNvPr name="TextBox 5" id="5"/>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dom selection methods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481959" y="3137240"/>
            <a:ext cx="11777341" cy="6121060"/>
          </a:xfrm>
          <a:custGeom>
            <a:avLst/>
            <a:gdLst/>
            <a:ahLst/>
            <a:cxnLst/>
            <a:rect r="r" b="b" t="t" l="l"/>
            <a:pathLst>
              <a:path h="6121060" w="11777341">
                <a:moveTo>
                  <a:pt x="0" y="0"/>
                </a:moveTo>
                <a:lnTo>
                  <a:pt x="11777341" y="0"/>
                </a:lnTo>
                <a:lnTo>
                  <a:pt x="11777341" y="6121060"/>
                </a:lnTo>
                <a:lnTo>
                  <a:pt x="0" y="6121060"/>
                </a:lnTo>
                <a:lnTo>
                  <a:pt x="0" y="0"/>
                </a:lnTo>
                <a:close/>
              </a:path>
            </a:pathLst>
          </a:custGeom>
          <a:blipFill>
            <a:blip r:embed="rId4"/>
            <a:stretch>
              <a:fillRect l="0" t="0" r="0" b="0"/>
            </a:stretch>
          </a:blipFill>
        </p:spPr>
      </p:sp>
      <p:sp>
        <p:nvSpPr>
          <p:cNvPr name="TextBox 5" id="5"/>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dom selection methods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2725218"/>
            <a:ext cx="12283160" cy="6966805"/>
          </a:xfrm>
          <a:custGeom>
            <a:avLst/>
            <a:gdLst/>
            <a:ahLst/>
            <a:cxnLst/>
            <a:rect r="r" b="b" t="t" l="l"/>
            <a:pathLst>
              <a:path h="6966805" w="12283160">
                <a:moveTo>
                  <a:pt x="0" y="0"/>
                </a:moveTo>
                <a:lnTo>
                  <a:pt x="12283160" y="0"/>
                </a:lnTo>
                <a:lnTo>
                  <a:pt x="12283160" y="6966806"/>
                </a:lnTo>
                <a:lnTo>
                  <a:pt x="0" y="6966806"/>
                </a:lnTo>
                <a:lnTo>
                  <a:pt x="0" y="0"/>
                </a:lnTo>
                <a:close/>
              </a:path>
            </a:pathLst>
          </a:custGeom>
          <a:blipFill>
            <a:blip r:embed="rId4"/>
            <a:stretch>
              <a:fillRect l="0" t="0" r="0" b="0"/>
            </a:stretch>
          </a:blipFill>
        </p:spPr>
      </p:sp>
      <p:sp>
        <p:nvSpPr>
          <p:cNvPr name="TextBox 5" id="5"/>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dom selection methods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2900692"/>
            <a:ext cx="10993321" cy="5325376"/>
          </a:xfrm>
          <a:custGeom>
            <a:avLst/>
            <a:gdLst/>
            <a:ahLst/>
            <a:cxnLst/>
            <a:rect r="r" b="b" t="t" l="l"/>
            <a:pathLst>
              <a:path h="5325376" w="10993321">
                <a:moveTo>
                  <a:pt x="0" y="0"/>
                </a:moveTo>
                <a:lnTo>
                  <a:pt x="10993321" y="0"/>
                </a:lnTo>
                <a:lnTo>
                  <a:pt x="10993321" y="5325376"/>
                </a:lnTo>
                <a:lnTo>
                  <a:pt x="0" y="5325376"/>
                </a:lnTo>
                <a:lnTo>
                  <a:pt x="0" y="0"/>
                </a:lnTo>
                <a:close/>
              </a:path>
            </a:pathLst>
          </a:custGeom>
          <a:blipFill>
            <a:blip r:embed="rId4"/>
            <a:stretch>
              <a:fillRect l="0" t="0" r="0" b="0"/>
            </a:stretch>
          </a:blipFill>
        </p:spPr>
      </p:sp>
      <p:sp>
        <p:nvSpPr>
          <p:cNvPr name="TextBox 5" id="5"/>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dom selection methods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3007648"/>
            <a:ext cx="10454432" cy="4271703"/>
          </a:xfrm>
          <a:custGeom>
            <a:avLst/>
            <a:gdLst/>
            <a:ahLst/>
            <a:cxnLst/>
            <a:rect r="r" b="b" t="t" l="l"/>
            <a:pathLst>
              <a:path h="4271703" w="10454432">
                <a:moveTo>
                  <a:pt x="0" y="0"/>
                </a:moveTo>
                <a:lnTo>
                  <a:pt x="10454432" y="0"/>
                </a:lnTo>
                <a:lnTo>
                  <a:pt x="10454432" y="4271704"/>
                </a:lnTo>
                <a:lnTo>
                  <a:pt x="0" y="4271704"/>
                </a:lnTo>
                <a:lnTo>
                  <a:pt x="0" y="0"/>
                </a:lnTo>
                <a:close/>
              </a:path>
            </a:pathLst>
          </a:custGeom>
          <a:blipFill>
            <a:blip r:embed="rId4"/>
            <a:stretch>
              <a:fillRect l="0" t="0" r="0" b="0"/>
            </a:stretch>
          </a:blipFill>
        </p:spPr>
      </p:sp>
      <p:sp>
        <p:nvSpPr>
          <p:cNvPr name="TextBox 5" id="5"/>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dom selection methods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2571756"/>
            <a:ext cx="11516162" cy="7402090"/>
          </a:xfrm>
          <a:custGeom>
            <a:avLst/>
            <a:gdLst/>
            <a:ahLst/>
            <a:cxnLst/>
            <a:rect r="r" b="b" t="t" l="l"/>
            <a:pathLst>
              <a:path h="7402090" w="11516162">
                <a:moveTo>
                  <a:pt x="0" y="0"/>
                </a:moveTo>
                <a:lnTo>
                  <a:pt x="11516162" y="0"/>
                </a:lnTo>
                <a:lnTo>
                  <a:pt x="11516162" y="7402090"/>
                </a:lnTo>
                <a:lnTo>
                  <a:pt x="0" y="7402090"/>
                </a:lnTo>
                <a:lnTo>
                  <a:pt x="0" y="0"/>
                </a:lnTo>
                <a:close/>
              </a:path>
            </a:pathLst>
          </a:custGeom>
          <a:blipFill>
            <a:blip r:embed="rId4"/>
            <a:stretch>
              <a:fillRect l="0" t="0" r="0" b="0"/>
            </a:stretch>
          </a:blipFill>
        </p:spPr>
      </p:sp>
      <p:sp>
        <p:nvSpPr>
          <p:cNvPr name="TextBox 5" id="5"/>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dom selection methods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2729669"/>
            <a:ext cx="9736232" cy="2947184"/>
          </a:xfrm>
          <a:custGeom>
            <a:avLst/>
            <a:gdLst/>
            <a:ahLst/>
            <a:cxnLst/>
            <a:rect r="r" b="b" t="t" l="l"/>
            <a:pathLst>
              <a:path h="2947184" w="9736232">
                <a:moveTo>
                  <a:pt x="0" y="0"/>
                </a:moveTo>
                <a:lnTo>
                  <a:pt x="9736232" y="0"/>
                </a:lnTo>
                <a:lnTo>
                  <a:pt x="9736232" y="2947184"/>
                </a:lnTo>
                <a:lnTo>
                  <a:pt x="0" y="2947184"/>
                </a:lnTo>
                <a:lnTo>
                  <a:pt x="0" y="0"/>
                </a:lnTo>
                <a:close/>
              </a:path>
            </a:pathLst>
          </a:custGeom>
          <a:blipFill>
            <a:blip r:embed="rId4"/>
            <a:stretch>
              <a:fillRect l="0" t="0" r="0" b="0"/>
            </a:stretch>
          </a:blipFill>
        </p:spPr>
      </p:sp>
      <p:sp>
        <p:nvSpPr>
          <p:cNvPr name="TextBox 5" id="5"/>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dom selection methods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3328346"/>
            <a:ext cx="9779381" cy="5929954"/>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Changing</a:t>
            </a:r>
            <a:r>
              <a:rPr lang="en-US" sz="2799">
                <a:solidFill>
                  <a:srgbClr val="272727"/>
                </a:solidFill>
                <a:latin typeface="TT Fors"/>
                <a:ea typeface="TT Fors"/>
                <a:cs typeface="TT Fors"/>
                <a:sym typeface="TT Fors"/>
              </a:rPr>
              <a:t> and Element’s style</a:t>
            </a:r>
          </a:p>
          <a:p>
            <a:pPr algn="just">
              <a:lnSpc>
                <a:spcPts val="3919"/>
              </a:lnSpc>
            </a:pPr>
          </a:p>
          <a:p>
            <a:pPr algn="just">
              <a:lnSpc>
                <a:spcPts val="3919"/>
              </a:lnSpc>
            </a:pPr>
            <a:r>
              <a:rPr lang="en-US" sz="2799">
                <a:solidFill>
                  <a:srgbClr val="272727"/>
                </a:solidFill>
                <a:latin typeface="TT Fors"/>
                <a:ea typeface="TT Fors"/>
                <a:cs typeface="TT Fors"/>
                <a:sym typeface="TT Fors"/>
              </a:rPr>
              <a:t>cons</a:t>
            </a:r>
            <a:r>
              <a:rPr lang="en-US" sz="2799">
                <a:solidFill>
                  <a:srgbClr val="272727"/>
                </a:solidFill>
                <a:latin typeface="TT Fors"/>
                <a:ea typeface="TT Fors"/>
                <a:cs typeface="TT Fors"/>
                <a:sym typeface="TT Fors"/>
              </a:rPr>
              <a:t>t node = document.getElementById("someId");</a:t>
            </a:r>
          </a:p>
          <a:p>
            <a:pPr algn="just">
              <a:lnSpc>
                <a:spcPts val="3919"/>
              </a:lnSpc>
            </a:pPr>
            <a:r>
              <a:rPr lang="en-US" sz="2799">
                <a:solidFill>
                  <a:srgbClr val="272727"/>
                </a:solidFill>
                <a:latin typeface="TT Fors"/>
                <a:ea typeface="TT Fors"/>
                <a:cs typeface="TT Fors"/>
                <a:sym typeface="TT Fors"/>
              </a:rPr>
              <a:t>node.style.backgroundColor = "#FFFF00";</a:t>
            </a:r>
          </a:p>
          <a:p>
            <a:pPr algn="just">
              <a:lnSpc>
                <a:spcPts val="3919"/>
              </a:lnSpc>
            </a:pPr>
            <a:r>
              <a:rPr lang="en-US" sz="2799">
                <a:solidFill>
                  <a:srgbClr val="272727"/>
                </a:solidFill>
                <a:latin typeface="TT Fors"/>
                <a:ea typeface="TT Fors"/>
                <a:cs typeface="TT Fors"/>
                <a:sym typeface="TT Fors"/>
              </a:rPr>
              <a:t>node.style.borderWidth = "3px";</a:t>
            </a:r>
          </a:p>
          <a:p>
            <a:pPr algn="just">
              <a:lnSpc>
                <a:spcPts val="3919"/>
              </a:lnSpc>
            </a:pPr>
          </a:p>
          <a:p>
            <a:pPr algn="just">
              <a:lnSpc>
                <a:spcPts val="3919"/>
              </a:lnSpc>
            </a:pPr>
            <a:r>
              <a:rPr lang="en-US" sz="2799">
                <a:solidFill>
                  <a:srgbClr val="272727"/>
                </a:solidFill>
                <a:latin typeface="TT Fors"/>
                <a:ea typeface="TT Fors"/>
                <a:cs typeface="TT Fors"/>
                <a:sym typeface="TT Fors"/>
              </a:rPr>
              <a:t>A common use of the classList property is to toggle the use of a class. For instance, we might want an element to not be visible unt</a:t>
            </a:r>
            <a:r>
              <a:rPr lang="en-US" sz="2799">
                <a:solidFill>
                  <a:srgbClr val="272727"/>
                </a:solidFill>
                <a:latin typeface="TT Fors"/>
                <a:ea typeface="TT Fors"/>
                <a:cs typeface="TT Fors"/>
                <a:sym typeface="TT Fors"/>
              </a:rPr>
              <a:t>il some user </a:t>
            </a:r>
            <a:r>
              <a:rPr lang="en-US" sz="2799">
                <a:solidFill>
                  <a:srgbClr val="272727"/>
                </a:solidFill>
                <a:latin typeface="TT Fors"/>
                <a:ea typeface="TT Fors"/>
                <a:cs typeface="TT Fors"/>
                <a:sym typeface="TT Fors"/>
              </a:rPr>
              <a:t>action triggers its visibility, which can be done simply using the toggle() function.</a:t>
            </a:r>
          </a:p>
          <a:p>
            <a:pPr algn="just">
              <a:lnSpc>
                <a:spcPts val="3919"/>
              </a:lnSpc>
            </a:pPr>
            <a:r>
              <a:rPr lang="en-US" sz="2799">
                <a:solidFill>
                  <a:srgbClr val="272727"/>
                </a:solidFill>
                <a:latin typeface="TT Fors"/>
                <a:ea typeface="TT Fors"/>
                <a:cs typeface="TT Fors"/>
                <a:sym typeface="TT Fors"/>
              </a:rPr>
              <a:t>node.classList.toggle("hide");</a:t>
            </a:r>
          </a:p>
          <a:p>
            <a:pPr algn="l">
              <a:lnSpc>
                <a:spcPts val="3919"/>
              </a:lnSpc>
            </a:pPr>
          </a:p>
        </p:txBody>
      </p:sp>
      <p:sp>
        <p:nvSpPr>
          <p:cNvPr name="TextBox 9" id="9"/>
          <p:cNvSpPr txBox="true"/>
          <p:nvPr/>
        </p:nvSpPr>
        <p:spPr>
          <a:xfrm rot="0">
            <a:off x="7479919" y="2421947"/>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modifying the dom</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33470" y="2917782"/>
            <a:ext cx="6441496" cy="3220748"/>
          </a:xfrm>
          <a:custGeom>
            <a:avLst/>
            <a:gdLst/>
            <a:ahLst/>
            <a:cxnLst/>
            <a:rect r="r" b="b" t="t" l="l"/>
            <a:pathLst>
              <a:path h="3220748" w="6441496">
                <a:moveTo>
                  <a:pt x="0" y="0"/>
                </a:moveTo>
                <a:lnTo>
                  <a:pt x="6441497" y="0"/>
                </a:lnTo>
                <a:lnTo>
                  <a:pt x="6441497" y="3220749"/>
                </a:lnTo>
                <a:lnTo>
                  <a:pt x="0" y="3220749"/>
                </a:lnTo>
                <a:lnTo>
                  <a:pt x="0" y="0"/>
                </a:lnTo>
                <a:close/>
              </a:path>
            </a:pathLst>
          </a:custGeom>
          <a:blipFill>
            <a:blip r:embed="rId4"/>
            <a:stretch>
              <a:fillRect l="0" t="0" r="0" b="0"/>
            </a:stretch>
          </a:blipFill>
        </p:spPr>
      </p:sp>
      <p:sp>
        <p:nvSpPr>
          <p:cNvPr name="Freeform 5" id="5"/>
          <p:cNvSpPr/>
          <p:nvPr/>
        </p:nvSpPr>
        <p:spPr>
          <a:xfrm flipH="false" flipV="false" rot="0">
            <a:off x="1028700" y="2917782"/>
            <a:ext cx="8742306" cy="4243058"/>
          </a:xfrm>
          <a:custGeom>
            <a:avLst/>
            <a:gdLst/>
            <a:ahLst/>
            <a:cxnLst/>
            <a:rect r="r" b="b" t="t" l="l"/>
            <a:pathLst>
              <a:path h="4243058" w="8742306">
                <a:moveTo>
                  <a:pt x="0" y="0"/>
                </a:moveTo>
                <a:lnTo>
                  <a:pt x="8742306" y="0"/>
                </a:lnTo>
                <a:lnTo>
                  <a:pt x="8742306" y="4243058"/>
                </a:lnTo>
                <a:lnTo>
                  <a:pt x="0" y="4243058"/>
                </a:lnTo>
                <a:lnTo>
                  <a:pt x="0" y="0"/>
                </a:lnTo>
                <a:close/>
              </a:path>
            </a:pathLst>
          </a:custGeom>
          <a:blipFill>
            <a:blip r:embed="rId5"/>
            <a:stretch>
              <a:fillRect l="0" t="0" r="-17610" b="0"/>
            </a:stretch>
          </a:blipFill>
        </p:spPr>
      </p:sp>
      <p:sp>
        <p:nvSpPr>
          <p:cNvPr name="TextBox 6" id="6"/>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modifying the dom</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747356"/>
            <a:ext cx="9779381" cy="3948646"/>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You can programmatic</a:t>
            </a:r>
            <a:r>
              <a:rPr lang="en-US" sz="2799">
                <a:solidFill>
                  <a:srgbClr val="272727"/>
                </a:solidFill>
                <a:latin typeface="TT Fors"/>
                <a:ea typeface="TT Fors"/>
                <a:cs typeface="TT Fors"/>
                <a:sym typeface="TT Fors"/>
              </a:rPr>
              <a:t>ally access the </a:t>
            </a:r>
            <a:r>
              <a:rPr lang="en-US" sz="2799">
                <a:solidFill>
                  <a:srgbClr val="272727"/>
                </a:solidFill>
                <a:latin typeface="TT Fors"/>
                <a:ea typeface="TT Fors"/>
                <a:cs typeface="TT Fors"/>
                <a:sym typeface="TT Fors"/>
              </a:rPr>
              <a:t>conten</a:t>
            </a:r>
            <a:r>
              <a:rPr lang="en-US" sz="2799">
                <a:solidFill>
                  <a:srgbClr val="272727"/>
                </a:solidFill>
                <a:latin typeface="TT Fors"/>
                <a:ea typeface="TT Fors"/>
                <a:cs typeface="TT Fors"/>
                <a:sym typeface="TT Fors"/>
              </a:rPr>
              <a:t>t of an element node through its innerHTML or textContent property</a:t>
            </a:r>
          </a:p>
          <a:p>
            <a:pPr algn="just">
              <a:lnSpc>
                <a:spcPts val="3919"/>
              </a:lnSpc>
            </a:pPr>
          </a:p>
          <a:p>
            <a:pPr algn="l">
              <a:lnSpc>
                <a:spcPts val="3919"/>
              </a:lnSpc>
            </a:pPr>
            <a:r>
              <a:rPr lang="en-US" sz="2799">
                <a:solidFill>
                  <a:srgbClr val="272727"/>
                </a:solidFill>
                <a:latin typeface="TT Fors"/>
                <a:ea typeface="TT Fors"/>
                <a:cs typeface="TT Fors"/>
                <a:sym typeface="TT Fors"/>
              </a:rPr>
              <a:t>Using innerHTML is discouraged because it is potentially vulnerable t</a:t>
            </a:r>
            <a:r>
              <a:rPr lang="en-US" sz="2799">
                <a:solidFill>
                  <a:srgbClr val="272727"/>
                </a:solidFill>
                <a:latin typeface="TT Fors"/>
                <a:ea typeface="TT Fors"/>
                <a:cs typeface="TT Fors"/>
                <a:sym typeface="TT Fors"/>
              </a:rPr>
              <a:t>o Cross-Site S</a:t>
            </a:r>
            <a:r>
              <a:rPr lang="en-US" sz="2799">
                <a:solidFill>
                  <a:srgbClr val="272727"/>
                </a:solidFill>
                <a:latin typeface="TT Fors"/>
                <a:ea typeface="TT Fors"/>
                <a:cs typeface="TT Fors"/>
                <a:sym typeface="TT Fors"/>
              </a:rPr>
              <a:t>cripting (XSS) attacks, in which user generated input containing malicious JavaScript is output using innerHTML</a:t>
            </a:r>
          </a:p>
        </p:txBody>
      </p:sp>
      <p:sp>
        <p:nvSpPr>
          <p:cNvPr name="TextBox 9" id="9"/>
          <p:cNvSpPr txBox="true"/>
          <p:nvPr/>
        </p:nvSpPr>
        <p:spPr>
          <a:xfrm rot="0">
            <a:off x="7479919" y="3840957"/>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modifying the dom</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747356"/>
            <a:ext cx="9779381" cy="1967338"/>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In practice, when </a:t>
            </a:r>
            <a:r>
              <a:rPr lang="en-US" sz="2799">
                <a:solidFill>
                  <a:srgbClr val="272727"/>
                </a:solidFill>
                <a:latin typeface="TT Fors"/>
                <a:ea typeface="TT Fors"/>
                <a:cs typeface="TT Fors"/>
                <a:sym typeface="TT Fors"/>
              </a:rPr>
              <a:t>you need to change the in</a:t>
            </a:r>
            <a:r>
              <a:rPr lang="en-US" sz="2799">
                <a:solidFill>
                  <a:srgbClr val="272727"/>
                </a:solidFill>
                <a:latin typeface="TT Fors"/>
                <a:ea typeface="TT Fors"/>
                <a:cs typeface="TT Fors"/>
                <a:sym typeface="TT Fors"/>
              </a:rPr>
              <a:t>ner tex</a:t>
            </a:r>
            <a:r>
              <a:rPr lang="en-US" sz="2799">
                <a:solidFill>
                  <a:srgbClr val="272727"/>
                </a:solidFill>
                <a:latin typeface="TT Fors"/>
                <a:ea typeface="TT Fors"/>
                <a:cs typeface="TT Fors"/>
                <a:sym typeface="TT Fors"/>
              </a:rPr>
              <a:t>t of an element, it is preferable to use the textContent property instead of innerHTML since any ma</a:t>
            </a:r>
            <a:r>
              <a:rPr lang="en-US" sz="2799">
                <a:solidFill>
                  <a:srgbClr val="272727"/>
                </a:solidFill>
                <a:latin typeface="TT Fors"/>
                <a:ea typeface="TT Fors"/>
                <a:cs typeface="TT Fors"/>
                <a:sym typeface="TT Fors"/>
              </a:rPr>
              <a:t>rkup is st</a:t>
            </a:r>
            <a:r>
              <a:rPr lang="en-US" sz="2799">
                <a:solidFill>
                  <a:srgbClr val="272727"/>
                </a:solidFill>
                <a:latin typeface="TT Fors"/>
                <a:ea typeface="TT Fors"/>
                <a:cs typeface="TT Fors"/>
                <a:sym typeface="TT Fors"/>
              </a:rPr>
              <a:t>ripped from it</a:t>
            </a:r>
          </a:p>
          <a:p>
            <a:pPr algn="l">
              <a:lnSpc>
                <a:spcPts val="3919"/>
              </a:lnSpc>
            </a:pPr>
          </a:p>
        </p:txBody>
      </p:sp>
      <p:sp>
        <p:nvSpPr>
          <p:cNvPr name="TextBox 9" id="9"/>
          <p:cNvSpPr txBox="true"/>
          <p:nvPr/>
        </p:nvSpPr>
        <p:spPr>
          <a:xfrm rot="0">
            <a:off x="7479919" y="3840957"/>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modifying the dom</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33470" y="2917782"/>
            <a:ext cx="6441496" cy="3220748"/>
          </a:xfrm>
          <a:custGeom>
            <a:avLst/>
            <a:gdLst/>
            <a:ahLst/>
            <a:cxnLst/>
            <a:rect r="r" b="b" t="t" l="l"/>
            <a:pathLst>
              <a:path h="3220748" w="6441496">
                <a:moveTo>
                  <a:pt x="0" y="0"/>
                </a:moveTo>
                <a:lnTo>
                  <a:pt x="6441497" y="0"/>
                </a:lnTo>
                <a:lnTo>
                  <a:pt x="6441497" y="3220749"/>
                </a:lnTo>
                <a:lnTo>
                  <a:pt x="0" y="3220749"/>
                </a:lnTo>
                <a:lnTo>
                  <a:pt x="0" y="0"/>
                </a:lnTo>
                <a:close/>
              </a:path>
            </a:pathLst>
          </a:custGeom>
          <a:blipFill>
            <a:blip r:embed="rId4"/>
            <a:stretch>
              <a:fillRect l="0" t="0" r="0" b="0"/>
            </a:stretch>
          </a:blipFill>
        </p:spPr>
      </p:sp>
      <p:sp>
        <p:nvSpPr>
          <p:cNvPr name="Freeform 5" id="5"/>
          <p:cNvSpPr/>
          <p:nvPr/>
        </p:nvSpPr>
        <p:spPr>
          <a:xfrm flipH="false" flipV="false" rot="0">
            <a:off x="1028700" y="2917782"/>
            <a:ext cx="8742306" cy="4243058"/>
          </a:xfrm>
          <a:custGeom>
            <a:avLst/>
            <a:gdLst/>
            <a:ahLst/>
            <a:cxnLst/>
            <a:rect r="r" b="b" t="t" l="l"/>
            <a:pathLst>
              <a:path h="4243058" w="8742306">
                <a:moveTo>
                  <a:pt x="0" y="0"/>
                </a:moveTo>
                <a:lnTo>
                  <a:pt x="8742306" y="0"/>
                </a:lnTo>
                <a:lnTo>
                  <a:pt x="8742306" y="4243058"/>
                </a:lnTo>
                <a:lnTo>
                  <a:pt x="0" y="4243058"/>
                </a:lnTo>
                <a:lnTo>
                  <a:pt x="0" y="0"/>
                </a:lnTo>
                <a:close/>
              </a:path>
            </a:pathLst>
          </a:custGeom>
          <a:blipFill>
            <a:blip r:embed="rId5"/>
            <a:stretch>
              <a:fillRect l="0" t="0" r="-17610" b="0"/>
            </a:stretch>
          </a:blipFill>
        </p:spPr>
      </p:sp>
      <p:sp>
        <p:nvSpPr>
          <p:cNvPr name="TextBox 6" id="6"/>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modifying the dom</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747356"/>
            <a:ext cx="9779381" cy="3453319"/>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DOM Manipulati</a:t>
            </a:r>
            <a:r>
              <a:rPr lang="en-US" sz="2799">
                <a:solidFill>
                  <a:srgbClr val="272727"/>
                </a:solidFill>
                <a:latin typeface="TT Fors"/>
                <a:ea typeface="TT Fors"/>
                <a:cs typeface="TT Fors"/>
                <a:sym typeface="TT Fors"/>
              </a:rPr>
              <a:t>on Methods</a:t>
            </a:r>
          </a:p>
          <a:p>
            <a:pPr algn="just">
              <a:lnSpc>
                <a:spcPts val="3919"/>
              </a:lnSpc>
            </a:pPr>
          </a:p>
          <a:p>
            <a:pPr algn="just">
              <a:lnSpc>
                <a:spcPts val="3919"/>
              </a:lnSpc>
            </a:pPr>
            <a:r>
              <a:rPr lang="en-US" sz="2799">
                <a:solidFill>
                  <a:srgbClr val="272727"/>
                </a:solidFill>
                <a:latin typeface="TT Fors"/>
                <a:ea typeface="TT Fors"/>
                <a:cs typeface="TT Fors"/>
                <a:sym typeface="TT Fors"/>
              </a:rPr>
              <a:t>Each node in the DOM</a:t>
            </a:r>
            <a:r>
              <a:rPr lang="en-US" sz="2799">
                <a:solidFill>
                  <a:srgbClr val="272727"/>
                </a:solidFill>
                <a:latin typeface="TT Fors"/>
                <a:ea typeface="TT Fors"/>
                <a:cs typeface="TT Fors"/>
                <a:sym typeface="TT Fors"/>
              </a:rPr>
              <a:t> has a varie</a:t>
            </a:r>
            <a:r>
              <a:rPr lang="en-US" sz="2799">
                <a:solidFill>
                  <a:srgbClr val="272727"/>
                </a:solidFill>
                <a:latin typeface="TT Fors"/>
                <a:ea typeface="TT Fors"/>
                <a:cs typeface="TT Fors"/>
                <a:sym typeface="TT Fors"/>
              </a:rPr>
              <a:t>ty of “family relations” properties and methods for navigating between elements and for adding or removing elements f</a:t>
            </a:r>
            <a:r>
              <a:rPr lang="en-US" sz="2799">
                <a:solidFill>
                  <a:srgbClr val="272727"/>
                </a:solidFill>
                <a:latin typeface="TT Fors"/>
                <a:ea typeface="TT Fors"/>
                <a:cs typeface="TT Fors"/>
                <a:sym typeface="TT Fors"/>
              </a:rPr>
              <a:t>rom th</a:t>
            </a:r>
            <a:r>
              <a:rPr lang="en-US" sz="2799">
                <a:solidFill>
                  <a:srgbClr val="272727"/>
                </a:solidFill>
                <a:latin typeface="TT Fors"/>
                <a:ea typeface="TT Fors"/>
                <a:cs typeface="TT Fors"/>
                <a:sym typeface="TT Fors"/>
              </a:rPr>
              <a:t>e document hierarchy.</a:t>
            </a:r>
          </a:p>
          <a:p>
            <a:pPr algn="l">
              <a:lnSpc>
                <a:spcPts val="3919"/>
              </a:lnSpc>
            </a:pPr>
          </a:p>
        </p:txBody>
      </p:sp>
      <p:sp>
        <p:nvSpPr>
          <p:cNvPr name="TextBox 9" id="9"/>
          <p:cNvSpPr txBox="true"/>
          <p:nvPr/>
        </p:nvSpPr>
        <p:spPr>
          <a:xfrm rot="0">
            <a:off x="7479919" y="3840957"/>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modifying the dom</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3248651"/>
            <a:ext cx="10988407" cy="4217344"/>
          </a:xfrm>
          <a:custGeom>
            <a:avLst/>
            <a:gdLst/>
            <a:ahLst/>
            <a:cxnLst/>
            <a:rect r="r" b="b" t="t" l="l"/>
            <a:pathLst>
              <a:path h="4217344" w="10988407">
                <a:moveTo>
                  <a:pt x="0" y="0"/>
                </a:moveTo>
                <a:lnTo>
                  <a:pt x="10988407" y="0"/>
                </a:lnTo>
                <a:lnTo>
                  <a:pt x="10988407" y="4217344"/>
                </a:lnTo>
                <a:lnTo>
                  <a:pt x="0" y="4217344"/>
                </a:lnTo>
                <a:lnTo>
                  <a:pt x="0" y="0"/>
                </a:lnTo>
                <a:close/>
              </a:path>
            </a:pathLst>
          </a:custGeom>
          <a:blipFill>
            <a:blip r:embed="rId4"/>
            <a:stretch>
              <a:fillRect l="0" t="0" r="0" b="0"/>
            </a:stretch>
          </a:blipFill>
        </p:spPr>
      </p:sp>
      <p:sp>
        <p:nvSpPr>
          <p:cNvPr name="TextBox 5" id="5"/>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modifying the dom</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409892" y="1542622"/>
            <a:ext cx="11535076" cy="7350220"/>
          </a:xfrm>
          <a:custGeom>
            <a:avLst/>
            <a:gdLst/>
            <a:ahLst/>
            <a:cxnLst/>
            <a:rect r="r" b="b" t="t" l="l"/>
            <a:pathLst>
              <a:path h="7350220" w="11535076">
                <a:moveTo>
                  <a:pt x="0" y="0"/>
                </a:moveTo>
                <a:lnTo>
                  <a:pt x="11535076" y="0"/>
                </a:lnTo>
                <a:lnTo>
                  <a:pt x="11535076" y="7350219"/>
                </a:lnTo>
                <a:lnTo>
                  <a:pt x="0" y="7350219"/>
                </a:lnTo>
                <a:lnTo>
                  <a:pt x="0" y="0"/>
                </a:lnTo>
                <a:close/>
              </a:path>
            </a:pathLst>
          </a:custGeom>
          <a:blipFill>
            <a:blip r:embed="rId4"/>
            <a:stretch>
              <a:fillRect l="0" t="0" r="0" b="0"/>
            </a:stretch>
          </a:blipFill>
        </p:spPr>
      </p:sp>
      <p:sp>
        <p:nvSpPr>
          <p:cNvPr name="TextBox 5" id="5"/>
          <p:cNvSpPr txBox="true"/>
          <p:nvPr/>
        </p:nvSpPr>
        <p:spPr>
          <a:xfrm rot="0">
            <a:off x="1028700" y="1656922"/>
            <a:ext cx="5223737"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modifying the dom</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2843801"/>
            <a:ext cx="9833511" cy="6414499"/>
          </a:xfrm>
          <a:custGeom>
            <a:avLst/>
            <a:gdLst/>
            <a:ahLst/>
            <a:cxnLst/>
            <a:rect r="r" b="b" t="t" l="l"/>
            <a:pathLst>
              <a:path h="6414499" w="9833511">
                <a:moveTo>
                  <a:pt x="0" y="0"/>
                </a:moveTo>
                <a:lnTo>
                  <a:pt x="9833511" y="0"/>
                </a:lnTo>
                <a:lnTo>
                  <a:pt x="9833511" y="6414499"/>
                </a:lnTo>
                <a:lnTo>
                  <a:pt x="0" y="6414499"/>
                </a:lnTo>
                <a:lnTo>
                  <a:pt x="0" y="0"/>
                </a:lnTo>
                <a:close/>
              </a:path>
            </a:pathLst>
          </a:custGeom>
          <a:blipFill>
            <a:blip r:embed="rId4"/>
            <a:stretch>
              <a:fillRect l="0" t="0" r="0" b="0"/>
            </a:stretch>
          </a:blipFill>
        </p:spPr>
      </p:sp>
      <p:sp>
        <p:nvSpPr>
          <p:cNvPr name="TextBox 5" id="5"/>
          <p:cNvSpPr txBox="true"/>
          <p:nvPr/>
        </p:nvSpPr>
        <p:spPr>
          <a:xfrm rot="0">
            <a:off x="1028700" y="1656922"/>
            <a:ext cx="5223737"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modifying the dom</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47408" y="2948947"/>
            <a:ext cx="11398391" cy="5397774"/>
          </a:xfrm>
          <a:custGeom>
            <a:avLst/>
            <a:gdLst/>
            <a:ahLst/>
            <a:cxnLst/>
            <a:rect r="r" b="b" t="t" l="l"/>
            <a:pathLst>
              <a:path h="5397774" w="11398391">
                <a:moveTo>
                  <a:pt x="0" y="0"/>
                </a:moveTo>
                <a:lnTo>
                  <a:pt x="11398391" y="0"/>
                </a:lnTo>
                <a:lnTo>
                  <a:pt x="11398391" y="5397774"/>
                </a:lnTo>
                <a:lnTo>
                  <a:pt x="0" y="5397774"/>
                </a:lnTo>
                <a:lnTo>
                  <a:pt x="0" y="0"/>
                </a:lnTo>
                <a:close/>
              </a:path>
            </a:pathLst>
          </a:custGeom>
          <a:blipFill>
            <a:blip r:embed="rId4"/>
            <a:stretch>
              <a:fillRect l="0" t="0" r="0" b="0"/>
            </a:stretch>
          </a:blipFill>
        </p:spPr>
      </p:sp>
      <p:sp>
        <p:nvSpPr>
          <p:cNvPr name="TextBox 5" id="5"/>
          <p:cNvSpPr txBox="true"/>
          <p:nvPr/>
        </p:nvSpPr>
        <p:spPr>
          <a:xfrm rot="0">
            <a:off x="1028700" y="1656922"/>
            <a:ext cx="5223737"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modifying the dom</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48531" y="2754124"/>
            <a:ext cx="10847405" cy="3136599"/>
          </a:xfrm>
          <a:custGeom>
            <a:avLst/>
            <a:gdLst/>
            <a:ahLst/>
            <a:cxnLst/>
            <a:rect r="r" b="b" t="t" l="l"/>
            <a:pathLst>
              <a:path h="3136599" w="10847405">
                <a:moveTo>
                  <a:pt x="0" y="0"/>
                </a:moveTo>
                <a:lnTo>
                  <a:pt x="10847405" y="0"/>
                </a:lnTo>
                <a:lnTo>
                  <a:pt x="10847405" y="3136599"/>
                </a:lnTo>
                <a:lnTo>
                  <a:pt x="0" y="3136599"/>
                </a:lnTo>
                <a:lnTo>
                  <a:pt x="0" y="0"/>
                </a:lnTo>
                <a:close/>
              </a:path>
            </a:pathLst>
          </a:custGeom>
          <a:blipFill>
            <a:blip r:embed="rId4"/>
            <a:stretch>
              <a:fillRect l="0" t="0" r="0" b="0"/>
            </a:stretch>
          </a:blipFill>
        </p:spPr>
      </p:sp>
      <p:sp>
        <p:nvSpPr>
          <p:cNvPr name="Freeform 5" id="5"/>
          <p:cNvSpPr/>
          <p:nvPr/>
        </p:nvSpPr>
        <p:spPr>
          <a:xfrm flipH="false" flipV="false" rot="0">
            <a:off x="12378978" y="2754124"/>
            <a:ext cx="5213480" cy="4282501"/>
          </a:xfrm>
          <a:custGeom>
            <a:avLst/>
            <a:gdLst/>
            <a:ahLst/>
            <a:cxnLst/>
            <a:rect r="r" b="b" t="t" l="l"/>
            <a:pathLst>
              <a:path h="4282501" w="5213480">
                <a:moveTo>
                  <a:pt x="0" y="0"/>
                </a:moveTo>
                <a:lnTo>
                  <a:pt x="5213480" y="0"/>
                </a:lnTo>
                <a:lnTo>
                  <a:pt x="5213480" y="4282501"/>
                </a:lnTo>
                <a:lnTo>
                  <a:pt x="0" y="4282501"/>
                </a:lnTo>
                <a:lnTo>
                  <a:pt x="0" y="0"/>
                </a:lnTo>
                <a:close/>
              </a:path>
            </a:pathLst>
          </a:custGeom>
          <a:blipFill>
            <a:blip r:embed="rId5"/>
            <a:stretch>
              <a:fillRect l="0" t="0" r="0" b="0"/>
            </a:stretch>
          </a:blipFill>
        </p:spPr>
      </p:sp>
      <p:sp>
        <p:nvSpPr>
          <p:cNvPr name="TextBox 6" id="6"/>
          <p:cNvSpPr txBox="true"/>
          <p:nvPr/>
        </p:nvSpPr>
        <p:spPr>
          <a:xfrm rot="0">
            <a:off x="1028700" y="1656922"/>
            <a:ext cx="5223737"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modifying the dom</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5434628"/>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DOM</a:t>
            </a:r>
            <a:r>
              <a:rPr lang="en-US" sz="2799">
                <a:solidFill>
                  <a:srgbClr val="272727"/>
                </a:solidFill>
                <a:latin typeface="TT Fors"/>
                <a:ea typeface="TT Fors"/>
                <a:cs typeface="TT Fors"/>
                <a:sym typeface="TT Fors"/>
              </a:rPr>
              <a:t> Timing</a:t>
            </a:r>
          </a:p>
          <a:p>
            <a:pPr algn="just">
              <a:lnSpc>
                <a:spcPts val="3919"/>
              </a:lnSpc>
            </a:pPr>
          </a:p>
          <a:p>
            <a:pPr algn="just">
              <a:lnSpc>
                <a:spcPts val="3919"/>
              </a:lnSpc>
            </a:pPr>
            <a:r>
              <a:rPr lang="en-US" sz="2799">
                <a:solidFill>
                  <a:srgbClr val="272727"/>
                </a:solidFill>
                <a:latin typeface="TT Fors"/>
                <a:ea typeface="TT Fors"/>
                <a:cs typeface="TT Fors"/>
                <a:sym typeface="TT Fors"/>
              </a:rPr>
              <a:t>You </a:t>
            </a:r>
            <a:r>
              <a:rPr lang="en-US" sz="2799">
                <a:solidFill>
                  <a:srgbClr val="272727"/>
                </a:solidFill>
                <a:latin typeface="TT Fors"/>
                <a:ea typeface="TT Fors"/>
                <a:cs typeface="TT Fors"/>
                <a:sym typeface="TT Fors"/>
              </a:rPr>
              <a:t>canno</a:t>
            </a:r>
            <a:r>
              <a:rPr lang="en-US" sz="2799">
                <a:solidFill>
                  <a:srgbClr val="272727"/>
                </a:solidFill>
                <a:latin typeface="TT Fors"/>
                <a:ea typeface="TT Fors"/>
                <a:cs typeface="TT Fors"/>
                <a:sym typeface="TT Fors"/>
              </a:rPr>
              <a:t>t access or modify the DOM until it has been loaded.</a:t>
            </a:r>
          </a:p>
          <a:p>
            <a:pPr algn="just">
              <a:lnSpc>
                <a:spcPts val="3919"/>
              </a:lnSpc>
            </a:pPr>
          </a:p>
          <a:p>
            <a:pPr algn="just">
              <a:lnSpc>
                <a:spcPts val="3919"/>
              </a:lnSpc>
            </a:pPr>
            <a:r>
              <a:rPr lang="en-US" sz="2799">
                <a:solidFill>
                  <a:srgbClr val="272727"/>
                </a:solidFill>
                <a:latin typeface="TT Fors"/>
                <a:ea typeface="TT Fors"/>
                <a:cs typeface="TT Fors"/>
                <a:sym typeface="TT Fors"/>
              </a:rPr>
              <a:t>The</a:t>
            </a:r>
            <a:r>
              <a:rPr lang="en-US" sz="2799">
                <a:solidFill>
                  <a:srgbClr val="272727"/>
                </a:solidFill>
                <a:latin typeface="TT Fors"/>
                <a:ea typeface="TT Fors"/>
                <a:cs typeface="TT Fors"/>
                <a:sym typeface="TT Fors"/>
              </a:rPr>
              <a:t> DOM programming is written after the markup that is to be manipulated. </a:t>
            </a:r>
          </a:p>
          <a:p>
            <a:pPr algn="just">
              <a:lnSpc>
                <a:spcPts val="3919"/>
              </a:lnSpc>
            </a:pPr>
          </a:p>
          <a:p>
            <a:pPr algn="just">
              <a:lnSpc>
                <a:spcPts val="3919"/>
              </a:lnSpc>
            </a:pPr>
            <a:r>
              <a:rPr lang="en-US" sz="2799">
                <a:solidFill>
                  <a:srgbClr val="272727"/>
                </a:solidFill>
                <a:latin typeface="TT Fors"/>
                <a:ea typeface="TT Fors"/>
                <a:cs typeface="TT Fors"/>
                <a:sym typeface="TT Fors"/>
              </a:rPr>
              <a:t>This should ensure that the elements exist in the DOM before the code executes.</a:t>
            </a:r>
          </a:p>
          <a:p>
            <a:pPr algn="l">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modifying the dom</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1F5014"/>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97719" y="-3719573"/>
            <a:ext cx="11892632" cy="17726146"/>
          </a:xfrm>
          <a:custGeom>
            <a:avLst/>
            <a:gdLst/>
            <a:ahLst/>
            <a:cxnLst/>
            <a:rect r="r" b="b" t="t" l="l"/>
            <a:pathLst>
              <a:path h="17726146" w="11892632">
                <a:moveTo>
                  <a:pt x="0" y="0"/>
                </a:moveTo>
                <a:lnTo>
                  <a:pt x="11892632" y="0"/>
                </a:lnTo>
                <a:lnTo>
                  <a:pt x="11892632" y="17726146"/>
                </a:lnTo>
                <a:lnTo>
                  <a:pt x="0" y="17726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61240" y="4402835"/>
            <a:ext cx="7882760" cy="1728981"/>
          </a:xfrm>
          <a:prstGeom prst="rect">
            <a:avLst/>
          </a:prstGeom>
        </p:spPr>
        <p:txBody>
          <a:bodyPr anchor="t" rtlCol="false" tIns="0" lIns="0" bIns="0" rIns="0">
            <a:spAutoFit/>
          </a:bodyPr>
          <a:lstStyle/>
          <a:p>
            <a:pPr algn="l">
              <a:lnSpc>
                <a:spcPts val="12846"/>
              </a:lnSpc>
            </a:pPr>
            <a:r>
              <a:rPr lang="en-US" sz="12976" spc="-259" b="true">
                <a:solidFill>
                  <a:srgbClr val="F6F6E9"/>
                </a:solidFill>
                <a:latin typeface="Bebas Neue Bold"/>
                <a:ea typeface="Bebas Neue Bold"/>
                <a:cs typeface="Bebas Neue Bold"/>
                <a:sym typeface="Bebas Neue Bold"/>
              </a:rPr>
              <a:t>events</a:t>
            </a:r>
          </a:p>
        </p:txBody>
      </p:sp>
      <p:grpSp>
        <p:nvGrpSpPr>
          <p:cNvPr name="Group 4" id="4"/>
          <p:cNvGrpSpPr/>
          <p:nvPr/>
        </p:nvGrpSpPr>
        <p:grpSpPr>
          <a:xfrm rot="0">
            <a:off x="9665183" y="1028700"/>
            <a:ext cx="8229600" cy="822960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9B76"/>
            </a:solidFill>
          </p:spPr>
        </p:sp>
        <p:sp>
          <p:nvSpPr>
            <p:cNvPr name="TextBox 6" id="6"/>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7" id="7"/>
          <p:cNvGrpSpPr/>
          <p:nvPr/>
        </p:nvGrpSpPr>
        <p:grpSpPr>
          <a:xfrm rot="0">
            <a:off x="10227481" y="1590998"/>
            <a:ext cx="7105005" cy="7105005"/>
            <a:chOff x="0" y="0"/>
            <a:chExt cx="812800" cy="812800"/>
          </a:xfrm>
        </p:grpSpPr>
        <p:sp>
          <p:nvSpPr>
            <p:cNvPr name="Freeform 8" id="8"/>
            <p:cNvSpPr/>
            <p:nvPr/>
          </p:nvSpPr>
          <p:spPr>
            <a:xfrm flipH="true" flipV="false" rot="0">
              <a:off x="0" y="0"/>
              <a:ext cx="812800" cy="812800"/>
            </a:xfrm>
            <a:custGeom>
              <a:avLst/>
              <a:gdLst/>
              <a:ahLst/>
              <a:cxnLst/>
              <a:rect r="r" b="b" t="t" l="l"/>
              <a:pathLst>
                <a:path h="812800" w="812800">
                  <a:moveTo>
                    <a:pt x="406400" y="0"/>
                  </a:moveTo>
                  <a:cubicBezTo>
                    <a:pt x="630849" y="0"/>
                    <a:pt x="812800" y="181951"/>
                    <a:pt x="812800" y="406400"/>
                  </a:cubicBezTo>
                  <a:cubicBezTo>
                    <a:pt x="812800" y="630849"/>
                    <a:pt x="630849" y="812800"/>
                    <a:pt x="406400" y="812800"/>
                  </a:cubicBezTo>
                  <a:cubicBezTo>
                    <a:pt x="181951" y="812800"/>
                    <a:pt x="0" y="630849"/>
                    <a:pt x="0" y="406400"/>
                  </a:cubicBezTo>
                  <a:cubicBezTo>
                    <a:pt x="0" y="181951"/>
                    <a:pt x="181951" y="0"/>
                    <a:pt x="406400" y="0"/>
                  </a:cubicBezTo>
                  <a:close/>
                </a:path>
              </a:pathLst>
            </a:custGeom>
            <a:blipFill>
              <a:blip r:embed="rId4"/>
              <a:stretch>
                <a:fillRect l="0" t="0" r="-50000" b="0"/>
              </a:stretch>
            </a:blipFill>
            <a:ln w="238125" cap="sq">
              <a:solidFill>
                <a:srgbClr val="262262"/>
              </a:solidFill>
              <a:prstDash val="solid"/>
              <a:miter/>
            </a:ln>
          </p:spPr>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3453319"/>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In</a:t>
            </a:r>
            <a:r>
              <a:rPr lang="en-US" sz="2799">
                <a:solidFill>
                  <a:srgbClr val="272727"/>
                </a:solidFill>
                <a:latin typeface="TT Fors"/>
                <a:ea typeface="TT Fors"/>
                <a:cs typeface="TT Fors"/>
                <a:sym typeface="TT Fors"/>
              </a:rPr>
              <a:t> JavaScript, </a:t>
            </a:r>
            <a:r>
              <a:rPr lang="en-US" sz="2799">
                <a:solidFill>
                  <a:srgbClr val="272727"/>
                </a:solidFill>
                <a:latin typeface="TT Fors"/>
                <a:ea typeface="TT Fors"/>
                <a:cs typeface="TT Fors"/>
                <a:sym typeface="TT Fors"/>
              </a:rPr>
              <a:t>an event </a:t>
            </a:r>
            <a:r>
              <a:rPr lang="en-US" sz="2799">
                <a:solidFill>
                  <a:srgbClr val="272727"/>
                </a:solidFill>
                <a:latin typeface="TT Fors"/>
                <a:ea typeface="TT Fors"/>
                <a:cs typeface="TT Fors"/>
                <a:sym typeface="TT Fors"/>
              </a:rPr>
              <a:t>is an action or occurrence that happens in the browser, which the browser can detect and respond to. These occurrences are usually triggered either by the user (like clicking a button) or by the browser itself (like a webpage finishing its loading process).</a:t>
            </a:r>
          </a:p>
          <a:p>
            <a:pPr algn="just">
              <a:lnSpc>
                <a:spcPts val="3919"/>
              </a:lnSpc>
            </a:pPr>
          </a:p>
          <a:p>
            <a:pPr algn="l">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javascript events</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3823672"/>
            <a:ext cx="9779381" cy="5434628"/>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Defining an event handler is simply creating a callback function</a:t>
            </a:r>
          </a:p>
          <a:p>
            <a:pPr algn="just">
              <a:lnSpc>
                <a:spcPts val="3919"/>
              </a:lnSpc>
            </a:pPr>
          </a:p>
          <a:p>
            <a:pPr algn="just">
              <a:lnSpc>
                <a:spcPts val="3919"/>
              </a:lnSpc>
            </a:pPr>
            <a:r>
              <a:rPr lang="en-US" sz="2799">
                <a:solidFill>
                  <a:srgbClr val="272727"/>
                </a:solidFill>
                <a:latin typeface="TT Fors"/>
                <a:ea typeface="TT Fors"/>
                <a:cs typeface="TT Fors"/>
                <a:sym typeface="TT Fors"/>
              </a:rPr>
              <a:t>Registering an event handler requires passing a</a:t>
            </a:r>
            <a:r>
              <a:rPr lang="en-US" sz="2799">
                <a:solidFill>
                  <a:srgbClr val="272727"/>
                </a:solidFill>
                <a:latin typeface="TT Fors"/>
                <a:ea typeface="TT Fors"/>
                <a:cs typeface="TT Fors"/>
                <a:sym typeface="TT Fors"/>
              </a:rPr>
              <a:t> callback function to the addEventListener() method of a single node object.</a:t>
            </a:r>
          </a:p>
          <a:p>
            <a:pPr algn="just">
              <a:lnSpc>
                <a:spcPts val="3919"/>
              </a:lnSpc>
            </a:pPr>
          </a:p>
          <a:p>
            <a:pPr algn="just">
              <a:lnSpc>
                <a:spcPts val="3919"/>
              </a:lnSpc>
            </a:pPr>
            <a:r>
              <a:rPr lang="en-US" sz="2799">
                <a:solidFill>
                  <a:srgbClr val="272727"/>
                </a:solidFill>
                <a:latin typeface="TT Fors"/>
                <a:ea typeface="TT Fors"/>
                <a:cs typeface="TT Fors"/>
                <a:sym typeface="TT Fors"/>
              </a:rPr>
              <a:t>The </a:t>
            </a:r>
            <a:r>
              <a:rPr lang="en-US" sz="2799">
                <a:solidFill>
                  <a:srgbClr val="272727"/>
                </a:solidFill>
                <a:latin typeface="TT Fors"/>
                <a:ea typeface="TT Fors"/>
                <a:cs typeface="TT Fors"/>
                <a:sym typeface="TT Fors"/>
              </a:rPr>
              <a:t>event is triggered by some user action</a:t>
            </a:r>
          </a:p>
          <a:p>
            <a:pPr algn="just">
              <a:lnSpc>
                <a:spcPts val="3919"/>
              </a:lnSpc>
            </a:pPr>
          </a:p>
          <a:p>
            <a:pPr algn="just">
              <a:lnSpc>
                <a:spcPts val="3919"/>
              </a:lnSpc>
            </a:pPr>
            <a:r>
              <a:rPr lang="en-US" sz="2799">
                <a:solidFill>
                  <a:srgbClr val="272727"/>
                </a:solidFill>
                <a:latin typeface="TT Fors"/>
                <a:ea typeface="TT Fors"/>
                <a:cs typeface="TT Fors"/>
                <a:sym typeface="TT Fors"/>
              </a:rPr>
              <a:t>The handler executes the function</a:t>
            </a:r>
          </a:p>
          <a:p>
            <a:pPr algn="just">
              <a:lnSpc>
                <a:spcPts val="3919"/>
              </a:lnSpc>
            </a:pPr>
          </a:p>
        </p:txBody>
      </p:sp>
      <p:sp>
        <p:nvSpPr>
          <p:cNvPr name="TextBox 9" id="9"/>
          <p:cNvSpPr txBox="true"/>
          <p:nvPr/>
        </p:nvSpPr>
        <p:spPr>
          <a:xfrm rot="0">
            <a:off x="7479919" y="2917273"/>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javascript events</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829451" y="604913"/>
            <a:ext cx="9429849" cy="8797680"/>
          </a:xfrm>
          <a:custGeom>
            <a:avLst/>
            <a:gdLst/>
            <a:ahLst/>
            <a:cxnLst/>
            <a:rect r="r" b="b" t="t" l="l"/>
            <a:pathLst>
              <a:path h="8797680" w="9429849">
                <a:moveTo>
                  <a:pt x="0" y="0"/>
                </a:moveTo>
                <a:lnTo>
                  <a:pt x="9429849" y="0"/>
                </a:lnTo>
                <a:lnTo>
                  <a:pt x="9429849" y="8797680"/>
                </a:lnTo>
                <a:lnTo>
                  <a:pt x="0" y="8797680"/>
                </a:lnTo>
                <a:lnTo>
                  <a:pt x="0" y="0"/>
                </a:lnTo>
                <a:close/>
              </a:path>
            </a:pathLst>
          </a:custGeom>
          <a:blipFill>
            <a:blip r:embed="rId4"/>
            <a:stretch>
              <a:fillRect l="0" t="0" r="0" b="0"/>
            </a:stretch>
          </a:blipFill>
        </p:spPr>
      </p:sp>
      <p:sp>
        <p:nvSpPr>
          <p:cNvPr name="TextBox 5" id="5"/>
          <p:cNvSpPr txBox="true"/>
          <p:nvPr/>
        </p:nvSpPr>
        <p:spPr>
          <a:xfrm rot="0">
            <a:off x="1028700" y="1656922"/>
            <a:ext cx="5223737"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javascript events</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1656922"/>
            <a:ext cx="5223737"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javascript events</a:t>
            </a:r>
          </a:p>
        </p:txBody>
      </p:sp>
      <p:sp>
        <p:nvSpPr>
          <p:cNvPr name="Freeform 5" id="5"/>
          <p:cNvSpPr/>
          <p:nvPr/>
        </p:nvSpPr>
        <p:spPr>
          <a:xfrm flipH="false" flipV="false" rot="0">
            <a:off x="1028700" y="3289387"/>
            <a:ext cx="11707383" cy="4722936"/>
          </a:xfrm>
          <a:custGeom>
            <a:avLst/>
            <a:gdLst/>
            <a:ahLst/>
            <a:cxnLst/>
            <a:rect r="r" b="b" t="t" l="l"/>
            <a:pathLst>
              <a:path h="4722936" w="11707383">
                <a:moveTo>
                  <a:pt x="0" y="0"/>
                </a:moveTo>
                <a:lnTo>
                  <a:pt x="11707383" y="0"/>
                </a:lnTo>
                <a:lnTo>
                  <a:pt x="11707383" y="4722936"/>
                </a:lnTo>
                <a:lnTo>
                  <a:pt x="0" y="4722936"/>
                </a:lnTo>
                <a:lnTo>
                  <a:pt x="0" y="0"/>
                </a:lnTo>
                <a:close/>
              </a:path>
            </a:pathLst>
          </a:custGeom>
          <a:blipFill>
            <a:blip r:embed="rId4"/>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895362" y="1554814"/>
            <a:ext cx="8654884" cy="2722731"/>
          </a:xfrm>
          <a:custGeom>
            <a:avLst/>
            <a:gdLst/>
            <a:ahLst/>
            <a:cxnLst/>
            <a:rect r="r" b="b" t="t" l="l"/>
            <a:pathLst>
              <a:path h="2722731" w="8654884">
                <a:moveTo>
                  <a:pt x="0" y="0"/>
                </a:moveTo>
                <a:lnTo>
                  <a:pt x="8654884" y="0"/>
                </a:lnTo>
                <a:lnTo>
                  <a:pt x="8654884" y="2722730"/>
                </a:lnTo>
                <a:lnTo>
                  <a:pt x="0" y="2722730"/>
                </a:lnTo>
                <a:lnTo>
                  <a:pt x="0" y="0"/>
                </a:lnTo>
                <a:close/>
              </a:path>
            </a:pathLst>
          </a:custGeom>
          <a:blipFill>
            <a:blip r:embed="rId4"/>
            <a:stretch>
              <a:fillRect l="0" t="0" r="-7651" b="0"/>
            </a:stretch>
          </a:blipFill>
        </p:spPr>
      </p:sp>
      <p:sp>
        <p:nvSpPr>
          <p:cNvPr name="Freeform 5" id="5"/>
          <p:cNvSpPr/>
          <p:nvPr/>
        </p:nvSpPr>
        <p:spPr>
          <a:xfrm flipH="false" flipV="false" rot="0">
            <a:off x="6895362" y="4516773"/>
            <a:ext cx="11215360" cy="5469846"/>
          </a:xfrm>
          <a:custGeom>
            <a:avLst/>
            <a:gdLst/>
            <a:ahLst/>
            <a:cxnLst/>
            <a:rect r="r" b="b" t="t" l="l"/>
            <a:pathLst>
              <a:path h="5469846" w="11215360">
                <a:moveTo>
                  <a:pt x="0" y="0"/>
                </a:moveTo>
                <a:lnTo>
                  <a:pt x="11215360" y="0"/>
                </a:lnTo>
                <a:lnTo>
                  <a:pt x="11215360" y="5469846"/>
                </a:lnTo>
                <a:lnTo>
                  <a:pt x="0" y="5469846"/>
                </a:lnTo>
                <a:lnTo>
                  <a:pt x="0" y="0"/>
                </a:lnTo>
                <a:close/>
              </a:path>
            </a:pathLst>
          </a:custGeom>
          <a:blipFill>
            <a:blip r:embed="rId5"/>
            <a:stretch>
              <a:fillRect l="0" t="0" r="0" b="0"/>
            </a:stretch>
          </a:blipFill>
        </p:spPr>
      </p:sp>
      <p:sp>
        <p:nvSpPr>
          <p:cNvPr name="TextBox 6" id="6"/>
          <p:cNvSpPr txBox="true"/>
          <p:nvPr/>
        </p:nvSpPr>
        <p:spPr>
          <a:xfrm rot="0">
            <a:off x="1028700" y="1656922"/>
            <a:ext cx="5223737"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javascript events</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2784767"/>
            <a:ext cx="11465430" cy="6909408"/>
          </a:xfrm>
          <a:custGeom>
            <a:avLst/>
            <a:gdLst/>
            <a:ahLst/>
            <a:cxnLst/>
            <a:rect r="r" b="b" t="t" l="l"/>
            <a:pathLst>
              <a:path h="6909408" w="11465430">
                <a:moveTo>
                  <a:pt x="0" y="0"/>
                </a:moveTo>
                <a:lnTo>
                  <a:pt x="11465430" y="0"/>
                </a:lnTo>
                <a:lnTo>
                  <a:pt x="11465430" y="6909408"/>
                </a:lnTo>
                <a:lnTo>
                  <a:pt x="0" y="6909408"/>
                </a:lnTo>
                <a:lnTo>
                  <a:pt x="0" y="0"/>
                </a:lnTo>
                <a:close/>
              </a:path>
            </a:pathLst>
          </a:custGeom>
          <a:blipFill>
            <a:blip r:embed="rId4"/>
            <a:stretch>
              <a:fillRect l="0" t="0" r="0" b="0"/>
            </a:stretch>
          </a:blipFill>
        </p:spPr>
      </p:sp>
      <p:sp>
        <p:nvSpPr>
          <p:cNvPr name="TextBox 5" id="5"/>
          <p:cNvSpPr txBox="true"/>
          <p:nvPr/>
        </p:nvSpPr>
        <p:spPr>
          <a:xfrm rot="0">
            <a:off x="1028700" y="1656922"/>
            <a:ext cx="5223737"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javascript events</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4939300"/>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Page Loading and the DOM</a:t>
            </a:r>
          </a:p>
          <a:p>
            <a:pPr algn="just">
              <a:lnSpc>
                <a:spcPts val="3919"/>
              </a:lnSpc>
            </a:pPr>
          </a:p>
          <a:p>
            <a:pPr algn="just">
              <a:lnSpc>
                <a:spcPts val="3919"/>
              </a:lnSpc>
            </a:pPr>
            <a:r>
              <a:rPr lang="en-US" sz="2799">
                <a:solidFill>
                  <a:srgbClr val="272727"/>
                </a:solidFill>
                <a:latin typeface="TT Fors"/>
                <a:ea typeface="TT Fors"/>
                <a:cs typeface="TT Fors"/>
                <a:sym typeface="TT Fors"/>
              </a:rPr>
              <a:t>A problem can occur if your JavaScript tries to programmatically reference a DOM element that has not yet</a:t>
            </a:r>
            <a:r>
              <a:rPr lang="en-US" sz="2799">
                <a:solidFill>
                  <a:srgbClr val="272727"/>
                </a:solidFill>
                <a:latin typeface="TT Fors"/>
                <a:ea typeface="TT Fors"/>
                <a:cs typeface="TT Fors"/>
                <a:sym typeface="TT Fors"/>
              </a:rPr>
              <a:t> been loaded. </a:t>
            </a:r>
          </a:p>
          <a:p>
            <a:pPr algn="just">
              <a:lnSpc>
                <a:spcPts val="3919"/>
              </a:lnSpc>
            </a:pPr>
          </a:p>
          <a:p>
            <a:pPr algn="just">
              <a:lnSpc>
                <a:spcPts val="3919"/>
              </a:lnSpc>
            </a:pPr>
            <a:r>
              <a:rPr lang="en-US" sz="2799">
                <a:solidFill>
                  <a:srgbClr val="272727"/>
                </a:solidFill>
                <a:latin typeface="TT Fors"/>
                <a:ea typeface="TT Fors"/>
                <a:cs typeface="TT Fors"/>
                <a:sym typeface="TT Fors"/>
              </a:rPr>
              <a:t>That is, if your code attempts to set up a listener on a not-yet-loaded element then an error will be triggered. </a:t>
            </a:r>
          </a:p>
          <a:p>
            <a:pPr algn="just">
              <a:lnSpc>
                <a:spcPts val="3919"/>
              </a:lnSpc>
            </a:pP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javascript events</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5434628"/>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Page Loading and the DOM</a:t>
            </a:r>
          </a:p>
          <a:p>
            <a:pPr algn="just">
              <a:lnSpc>
                <a:spcPts val="3919"/>
              </a:lnSpc>
            </a:pPr>
          </a:p>
          <a:p>
            <a:pPr algn="just">
              <a:lnSpc>
                <a:spcPts val="3919"/>
              </a:lnSpc>
            </a:pPr>
            <a:r>
              <a:rPr lang="en-US" sz="2799" b="true">
                <a:solidFill>
                  <a:srgbClr val="272727"/>
                </a:solidFill>
                <a:latin typeface="TT Fors Bold"/>
                <a:ea typeface="TT Fors Bold"/>
                <a:cs typeface="TT Fors Bold"/>
                <a:sym typeface="TT Fors Bold"/>
              </a:rPr>
              <a:t>window.load.</a:t>
            </a:r>
            <a:r>
              <a:rPr lang="en-US" sz="2799">
                <a:solidFill>
                  <a:srgbClr val="272727"/>
                </a:solidFill>
                <a:latin typeface="TT Fors"/>
                <a:ea typeface="TT Fors"/>
                <a:cs typeface="TT Fors"/>
                <a:sym typeface="TT Fors"/>
              </a:rPr>
              <a:t> Fires when the entire page is loaded. This includes images and stylesheets, so on a slow connection</a:t>
            </a:r>
            <a:r>
              <a:rPr lang="en-US" sz="2799">
                <a:solidFill>
                  <a:srgbClr val="272727"/>
                </a:solidFill>
                <a:latin typeface="TT Fors"/>
                <a:ea typeface="TT Fors"/>
                <a:cs typeface="TT Fors"/>
                <a:sym typeface="TT Fors"/>
              </a:rPr>
              <a:t> or a page with a </a:t>
            </a:r>
            <a:r>
              <a:rPr lang="en-US" sz="2799">
                <a:solidFill>
                  <a:srgbClr val="272727"/>
                </a:solidFill>
                <a:latin typeface="TT Fors"/>
                <a:ea typeface="TT Fors"/>
                <a:cs typeface="TT Fors"/>
                <a:sym typeface="TT Fors"/>
              </a:rPr>
              <a:t>lot of imag</a:t>
            </a:r>
            <a:r>
              <a:rPr lang="en-US" sz="2799">
                <a:solidFill>
                  <a:srgbClr val="272727"/>
                </a:solidFill>
                <a:latin typeface="TT Fors"/>
                <a:ea typeface="TT Fors"/>
                <a:cs typeface="TT Fors"/>
                <a:sym typeface="TT Fors"/>
              </a:rPr>
              <a:t>es, the load event can take a long time to fire. </a:t>
            </a:r>
          </a:p>
          <a:p>
            <a:pPr algn="just">
              <a:lnSpc>
                <a:spcPts val="3919"/>
              </a:lnSpc>
            </a:pPr>
          </a:p>
          <a:p>
            <a:pPr algn="just">
              <a:lnSpc>
                <a:spcPts val="3919"/>
              </a:lnSpc>
            </a:pPr>
            <a:r>
              <a:rPr lang="en-US" sz="2799" b="true">
                <a:solidFill>
                  <a:srgbClr val="272727"/>
                </a:solidFill>
                <a:latin typeface="TT Fors Bold"/>
                <a:ea typeface="TT Fors Bold"/>
                <a:cs typeface="TT Fors Bold"/>
                <a:sym typeface="TT Fors Bold"/>
              </a:rPr>
              <a:t>document.DOMContentLoaded.</a:t>
            </a:r>
            <a:r>
              <a:rPr lang="en-US" sz="2799">
                <a:solidFill>
                  <a:srgbClr val="272727"/>
                </a:solidFill>
                <a:latin typeface="TT Fors"/>
                <a:ea typeface="TT Fors"/>
                <a:cs typeface="TT Fors"/>
                <a:sym typeface="TT Fors"/>
              </a:rPr>
              <a:t> Fires when the HTML document has been completely downloaded and parsed.</a:t>
            </a:r>
          </a:p>
          <a:p>
            <a:pPr algn="just">
              <a:lnSpc>
                <a:spcPts val="3919"/>
              </a:lnSpc>
            </a:pP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javascript events</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3020503"/>
            <a:ext cx="12273993" cy="6660306"/>
          </a:xfrm>
          <a:custGeom>
            <a:avLst/>
            <a:gdLst/>
            <a:ahLst/>
            <a:cxnLst/>
            <a:rect r="r" b="b" t="t" l="l"/>
            <a:pathLst>
              <a:path h="6660306" w="12273993">
                <a:moveTo>
                  <a:pt x="0" y="0"/>
                </a:moveTo>
                <a:lnTo>
                  <a:pt x="12273993" y="0"/>
                </a:lnTo>
                <a:lnTo>
                  <a:pt x="12273993" y="6660306"/>
                </a:lnTo>
                <a:lnTo>
                  <a:pt x="0" y="6660306"/>
                </a:lnTo>
                <a:lnTo>
                  <a:pt x="0" y="0"/>
                </a:lnTo>
                <a:close/>
              </a:path>
            </a:pathLst>
          </a:custGeom>
          <a:blipFill>
            <a:blip r:embed="rId4"/>
            <a:stretch>
              <a:fillRect l="0" t="0" r="0" b="0"/>
            </a:stretch>
          </a:blipFill>
        </p:spPr>
      </p:sp>
      <p:sp>
        <p:nvSpPr>
          <p:cNvPr name="TextBox 5" id="5"/>
          <p:cNvSpPr txBox="true"/>
          <p:nvPr/>
        </p:nvSpPr>
        <p:spPr>
          <a:xfrm rot="0">
            <a:off x="1028700" y="1656922"/>
            <a:ext cx="5223737"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javascript events</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4443973"/>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Event Object </a:t>
            </a:r>
          </a:p>
          <a:p>
            <a:pPr algn="just">
              <a:lnSpc>
                <a:spcPts val="3919"/>
              </a:lnSpc>
            </a:pPr>
          </a:p>
          <a:p>
            <a:pPr algn="just">
              <a:lnSpc>
                <a:spcPts val="3919"/>
              </a:lnSpc>
            </a:pPr>
            <a:r>
              <a:rPr lang="en-US" sz="2799">
                <a:solidFill>
                  <a:srgbClr val="272727"/>
                </a:solidFill>
                <a:latin typeface="TT Fors"/>
                <a:ea typeface="TT Fors"/>
                <a:cs typeface="TT Fors"/>
                <a:sym typeface="TT Fors"/>
              </a:rPr>
              <a:t>When an event is triggered, the browser will</a:t>
            </a:r>
            <a:r>
              <a:rPr lang="en-US" sz="2799">
                <a:solidFill>
                  <a:srgbClr val="272727"/>
                </a:solidFill>
                <a:latin typeface="TT Fors"/>
                <a:ea typeface="TT Fors"/>
                <a:cs typeface="TT Fors"/>
                <a:sym typeface="TT Fors"/>
              </a:rPr>
              <a:t> construct an event object that contains information about the event. Your handler won’t always need this information, but it sometimes will be absolutely essential.</a:t>
            </a:r>
          </a:p>
          <a:p>
            <a:pPr algn="just">
              <a:lnSpc>
                <a:spcPts val="3919"/>
              </a:lnSpc>
            </a:pPr>
          </a:p>
          <a:p>
            <a:pPr algn="just">
              <a:lnSpc>
                <a:spcPts val="3919"/>
              </a:lnSpc>
            </a:pP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javascript events</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2837969"/>
            <a:ext cx="12688992" cy="6675473"/>
          </a:xfrm>
          <a:custGeom>
            <a:avLst/>
            <a:gdLst/>
            <a:ahLst/>
            <a:cxnLst/>
            <a:rect r="r" b="b" t="t" l="l"/>
            <a:pathLst>
              <a:path h="6675473" w="12688992">
                <a:moveTo>
                  <a:pt x="0" y="0"/>
                </a:moveTo>
                <a:lnTo>
                  <a:pt x="12688992" y="0"/>
                </a:lnTo>
                <a:lnTo>
                  <a:pt x="12688992" y="6675473"/>
                </a:lnTo>
                <a:lnTo>
                  <a:pt x="0" y="6675473"/>
                </a:lnTo>
                <a:lnTo>
                  <a:pt x="0" y="0"/>
                </a:lnTo>
                <a:close/>
              </a:path>
            </a:pathLst>
          </a:custGeom>
          <a:blipFill>
            <a:blip r:embed="rId4"/>
            <a:stretch>
              <a:fillRect l="0" t="0" r="0" b="0"/>
            </a:stretch>
          </a:blipFill>
        </p:spPr>
      </p:sp>
      <p:sp>
        <p:nvSpPr>
          <p:cNvPr name="TextBox 5" id="5"/>
          <p:cNvSpPr txBox="true"/>
          <p:nvPr/>
        </p:nvSpPr>
        <p:spPr>
          <a:xfrm rot="0">
            <a:off x="1028700" y="1656922"/>
            <a:ext cx="5223737"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javascript events</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707307" y="1542622"/>
            <a:ext cx="11006863" cy="8255147"/>
          </a:xfrm>
          <a:custGeom>
            <a:avLst/>
            <a:gdLst/>
            <a:ahLst/>
            <a:cxnLst/>
            <a:rect r="r" b="b" t="t" l="l"/>
            <a:pathLst>
              <a:path h="8255147" w="11006863">
                <a:moveTo>
                  <a:pt x="0" y="0"/>
                </a:moveTo>
                <a:lnTo>
                  <a:pt x="11006863" y="0"/>
                </a:lnTo>
                <a:lnTo>
                  <a:pt x="11006863" y="8255147"/>
                </a:lnTo>
                <a:lnTo>
                  <a:pt x="0" y="8255147"/>
                </a:lnTo>
                <a:lnTo>
                  <a:pt x="0" y="0"/>
                </a:lnTo>
                <a:close/>
              </a:path>
            </a:pathLst>
          </a:custGeom>
          <a:blipFill>
            <a:blip r:embed="rId4"/>
            <a:stretch>
              <a:fillRect l="0" t="0" r="0" b="0"/>
            </a:stretch>
          </a:blipFill>
        </p:spPr>
      </p:sp>
      <p:sp>
        <p:nvSpPr>
          <p:cNvPr name="TextBox 5" id="5"/>
          <p:cNvSpPr txBox="true"/>
          <p:nvPr/>
        </p:nvSpPr>
        <p:spPr>
          <a:xfrm rot="0">
            <a:off x="1028700" y="1656922"/>
            <a:ext cx="5223737"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javascript events</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4443973"/>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Event Propagation </a:t>
            </a:r>
          </a:p>
          <a:p>
            <a:pPr algn="just">
              <a:lnSpc>
                <a:spcPts val="3919"/>
              </a:lnSpc>
            </a:pPr>
          </a:p>
          <a:p>
            <a:pPr algn="just">
              <a:lnSpc>
                <a:spcPts val="3919"/>
              </a:lnSpc>
            </a:pPr>
            <a:r>
              <a:rPr lang="en-US" sz="2799">
                <a:solidFill>
                  <a:srgbClr val="272727"/>
                </a:solidFill>
                <a:latin typeface="TT Fors"/>
                <a:ea typeface="TT Fors"/>
                <a:cs typeface="TT Fors"/>
                <a:sym typeface="TT Fors"/>
              </a:rPr>
              <a:t>Event propagation is when an ev</a:t>
            </a:r>
            <a:r>
              <a:rPr lang="en-US" sz="2799">
                <a:solidFill>
                  <a:srgbClr val="272727"/>
                </a:solidFill>
                <a:latin typeface="TT Fors"/>
                <a:ea typeface="TT Fors"/>
                <a:cs typeface="TT Fors"/>
                <a:sym typeface="TT Fors"/>
              </a:rPr>
              <a:t>ent fires on an element that has ancestor elements, the event propagates to those ancestors. There are two distinct approaches</a:t>
            </a:r>
          </a:p>
          <a:p>
            <a:pPr algn="just">
              <a:lnSpc>
                <a:spcPts val="3919"/>
              </a:lnSpc>
            </a:pPr>
            <a:r>
              <a:rPr lang="en-US" sz="2799">
                <a:solidFill>
                  <a:srgbClr val="272727"/>
                </a:solidFill>
                <a:latin typeface="TT Fors"/>
                <a:ea typeface="TT Fors"/>
                <a:cs typeface="TT Fors"/>
                <a:sym typeface="TT Fors"/>
              </a:rPr>
              <a:t>or pha</a:t>
            </a:r>
            <a:r>
              <a:rPr lang="en-US" sz="2799">
                <a:solidFill>
                  <a:srgbClr val="272727"/>
                </a:solidFill>
                <a:latin typeface="TT Fors"/>
                <a:ea typeface="TT Fors"/>
                <a:cs typeface="TT Fors"/>
                <a:sym typeface="TT Fors"/>
              </a:rPr>
              <a:t>ses of propagation: there is a capture phase and a bubbling phase.</a:t>
            </a:r>
          </a:p>
          <a:p>
            <a:pPr algn="just">
              <a:lnSpc>
                <a:spcPts val="3919"/>
              </a:lnSpc>
            </a:pP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javascript events</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5434628"/>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Event Propagation </a:t>
            </a:r>
          </a:p>
          <a:p>
            <a:pPr algn="just">
              <a:lnSpc>
                <a:spcPts val="3919"/>
              </a:lnSpc>
            </a:pPr>
          </a:p>
          <a:p>
            <a:pPr algn="just">
              <a:lnSpc>
                <a:spcPts val="3919"/>
              </a:lnSpc>
            </a:pPr>
            <a:r>
              <a:rPr lang="en-US" sz="2799">
                <a:solidFill>
                  <a:srgbClr val="272727"/>
                </a:solidFill>
                <a:latin typeface="TT Fors"/>
                <a:ea typeface="TT Fors"/>
                <a:cs typeface="TT Fors"/>
                <a:sym typeface="TT Fors"/>
              </a:rPr>
              <a:t>In the event capturing phase, the browser checks the outermost ancestor (th</a:t>
            </a:r>
            <a:r>
              <a:rPr lang="en-US" sz="2799">
                <a:solidFill>
                  <a:srgbClr val="272727"/>
                </a:solidFill>
                <a:latin typeface="TT Fors"/>
                <a:ea typeface="TT Fors"/>
                <a:cs typeface="TT Fors"/>
                <a:sym typeface="TT Fors"/>
              </a:rPr>
              <a:t>e &lt;html&gt; element) to see if that element has an event handler registered for the triggered event, and if so, it is executed. </a:t>
            </a:r>
          </a:p>
          <a:p>
            <a:pPr algn="just">
              <a:lnSpc>
                <a:spcPts val="3919"/>
              </a:lnSpc>
            </a:pPr>
          </a:p>
          <a:p>
            <a:pPr algn="just">
              <a:lnSpc>
                <a:spcPts val="3919"/>
              </a:lnSpc>
            </a:pPr>
            <a:r>
              <a:rPr lang="en-US" sz="2799">
                <a:solidFill>
                  <a:srgbClr val="272727"/>
                </a:solidFill>
                <a:latin typeface="TT Fors"/>
                <a:ea typeface="TT Fors"/>
                <a:cs typeface="TT Fors"/>
                <a:sym typeface="TT Fors"/>
              </a:rPr>
              <a:t>I</a:t>
            </a:r>
            <a:r>
              <a:rPr lang="en-US" sz="2799">
                <a:solidFill>
                  <a:srgbClr val="272727"/>
                </a:solidFill>
                <a:latin typeface="TT Fors"/>
                <a:ea typeface="TT Fors"/>
                <a:cs typeface="TT Fors"/>
                <a:sym typeface="TT Fors"/>
              </a:rPr>
              <a:t>t then proceeds to the next ancestor and performs the same steps; this continues until it reaches the element that trigg</a:t>
            </a:r>
            <a:r>
              <a:rPr lang="en-US" sz="2799">
                <a:solidFill>
                  <a:srgbClr val="272727"/>
                </a:solidFill>
                <a:latin typeface="TT Fors"/>
                <a:ea typeface="TT Fors"/>
                <a:cs typeface="TT Fors"/>
                <a:sym typeface="TT Fors"/>
              </a:rPr>
              <a:t>ered the event (that is, the event target).</a:t>
            </a: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javascript events</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3948646"/>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Event Propagation </a:t>
            </a:r>
          </a:p>
          <a:p>
            <a:pPr algn="just">
              <a:lnSpc>
                <a:spcPts val="3919"/>
              </a:lnSpc>
            </a:pPr>
          </a:p>
          <a:p>
            <a:pPr algn="just">
              <a:lnSpc>
                <a:spcPts val="3919"/>
              </a:lnSpc>
            </a:pPr>
            <a:r>
              <a:rPr lang="en-US" sz="2799">
                <a:solidFill>
                  <a:srgbClr val="272727"/>
                </a:solidFill>
                <a:latin typeface="TT Fors"/>
                <a:ea typeface="TT Fors"/>
                <a:cs typeface="TT Fors"/>
                <a:sym typeface="TT Fors"/>
              </a:rPr>
              <a:t>In the even</a:t>
            </a:r>
            <a:r>
              <a:rPr lang="en-US" sz="2799">
                <a:solidFill>
                  <a:srgbClr val="272727"/>
                </a:solidFill>
                <a:latin typeface="TT Fors"/>
                <a:ea typeface="TT Fors"/>
                <a:cs typeface="TT Fors"/>
                <a:sym typeface="TT Fors"/>
              </a:rPr>
              <a:t>t bubbling phase, the opposite occurs. The browser checks if the element that triggered the event has an event handler registered for that event, and</a:t>
            </a:r>
          </a:p>
          <a:p>
            <a:pPr algn="just">
              <a:lnSpc>
                <a:spcPts val="3919"/>
              </a:lnSpc>
            </a:pPr>
            <a:r>
              <a:rPr lang="en-US" sz="2799">
                <a:solidFill>
                  <a:srgbClr val="272727"/>
                </a:solidFill>
                <a:latin typeface="TT Fors"/>
                <a:ea typeface="TT Fors"/>
                <a:cs typeface="TT Fors"/>
                <a:sym typeface="TT Fors"/>
              </a:rPr>
              <a:t>if so, it is executed. It then proceeds outwards until</a:t>
            </a:r>
            <a:r>
              <a:rPr lang="en-US" sz="2799">
                <a:solidFill>
                  <a:srgbClr val="272727"/>
                </a:solidFill>
                <a:latin typeface="TT Fors"/>
                <a:ea typeface="TT Fors"/>
                <a:cs typeface="TT Fors"/>
                <a:sym typeface="TT Fors"/>
              </a:rPr>
              <a:t> it reaches the outermost ancestor</a:t>
            </a: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javascript events</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832666" y="1542622"/>
            <a:ext cx="10426634" cy="5999956"/>
          </a:xfrm>
          <a:custGeom>
            <a:avLst/>
            <a:gdLst/>
            <a:ahLst/>
            <a:cxnLst/>
            <a:rect r="r" b="b" t="t" l="l"/>
            <a:pathLst>
              <a:path h="5999956" w="10426634">
                <a:moveTo>
                  <a:pt x="0" y="0"/>
                </a:moveTo>
                <a:lnTo>
                  <a:pt x="10426634" y="0"/>
                </a:lnTo>
                <a:lnTo>
                  <a:pt x="10426634" y="5999956"/>
                </a:lnTo>
                <a:lnTo>
                  <a:pt x="0" y="5999956"/>
                </a:lnTo>
                <a:lnTo>
                  <a:pt x="0" y="0"/>
                </a:lnTo>
                <a:close/>
              </a:path>
            </a:pathLst>
          </a:custGeom>
          <a:blipFill>
            <a:blip r:embed="rId4"/>
            <a:stretch>
              <a:fillRect l="0" t="0" r="0" b="0"/>
            </a:stretch>
          </a:blipFill>
        </p:spPr>
      </p:sp>
      <p:sp>
        <p:nvSpPr>
          <p:cNvPr name="TextBox 5" id="5"/>
          <p:cNvSpPr txBox="true"/>
          <p:nvPr/>
        </p:nvSpPr>
        <p:spPr>
          <a:xfrm rot="0">
            <a:off x="1028700" y="1656922"/>
            <a:ext cx="5223737"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javascript events</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2957992"/>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Occasionally, the bubbling</a:t>
            </a:r>
            <a:r>
              <a:rPr lang="en-US" sz="2799">
                <a:solidFill>
                  <a:srgbClr val="272727"/>
                </a:solidFill>
                <a:latin typeface="TT Fors"/>
                <a:ea typeface="TT Fors"/>
                <a:cs typeface="TT Fors"/>
                <a:sym typeface="TT Fors"/>
              </a:rPr>
              <a:t> of events can cause problems. You might want to do something special when an inner element is click</a:t>
            </a:r>
            <a:r>
              <a:rPr lang="en-US" sz="2799">
                <a:solidFill>
                  <a:srgbClr val="272727"/>
                </a:solidFill>
                <a:latin typeface="TT Fors"/>
                <a:ea typeface="TT Fors"/>
                <a:cs typeface="TT Fors"/>
                <a:sym typeface="TT Fors"/>
              </a:rPr>
              <a:t>ed, and do something else when an outer element is clicked. </a:t>
            </a:r>
          </a:p>
          <a:p>
            <a:pPr algn="just">
              <a:lnSpc>
                <a:spcPts val="3919"/>
              </a:lnSpc>
            </a:pP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javascript events</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4443973"/>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The problem here is event propaga</a:t>
            </a:r>
            <a:r>
              <a:rPr lang="en-US" sz="2799">
                <a:solidFill>
                  <a:srgbClr val="272727"/>
                </a:solidFill>
                <a:latin typeface="TT Fors"/>
                <a:ea typeface="TT Fors"/>
                <a:cs typeface="TT Fors"/>
                <a:sym typeface="TT Fors"/>
              </a:rPr>
              <a:t>tion. When the user clicks on the increment count button, the click handler for the increment  will trigger first. Unfortunately, because of event bubbling, it will then trigger the click event for the</a:t>
            </a:r>
          </a:p>
          <a:p>
            <a:pPr algn="just">
              <a:lnSpc>
                <a:spcPts val="3919"/>
              </a:lnSpc>
            </a:pPr>
            <a:r>
              <a:rPr lang="en-US" sz="2799">
                <a:solidFill>
                  <a:srgbClr val="272727"/>
                </a:solidFill>
                <a:latin typeface="TT Fors"/>
                <a:ea typeface="TT Fors"/>
                <a:cs typeface="TT Fors"/>
                <a:sym typeface="TT Fors"/>
              </a:rPr>
              <a:t>, which will remove th</a:t>
            </a:r>
            <a:r>
              <a:rPr lang="en-US" sz="2799">
                <a:solidFill>
                  <a:srgbClr val="272727"/>
                </a:solidFill>
                <a:latin typeface="TT Fors"/>
                <a:ea typeface="TT Fors"/>
                <a:cs typeface="TT Fors"/>
                <a:sym typeface="TT Fors"/>
              </a:rPr>
              <a:t>e item from the cart as if the user had clicked on the remove button. The event will then bubble up to the next ancestor (the  element and call its click handler, which will minimize the cart altogether.</a:t>
            </a: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javascript events</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2720234"/>
            <a:ext cx="10998510" cy="6340978"/>
          </a:xfrm>
          <a:custGeom>
            <a:avLst/>
            <a:gdLst/>
            <a:ahLst/>
            <a:cxnLst/>
            <a:rect r="r" b="b" t="t" l="l"/>
            <a:pathLst>
              <a:path h="6340978" w="10998510">
                <a:moveTo>
                  <a:pt x="0" y="0"/>
                </a:moveTo>
                <a:lnTo>
                  <a:pt x="10998510" y="0"/>
                </a:lnTo>
                <a:lnTo>
                  <a:pt x="10998510" y="6340978"/>
                </a:lnTo>
                <a:lnTo>
                  <a:pt x="0" y="6340978"/>
                </a:lnTo>
                <a:lnTo>
                  <a:pt x="0" y="0"/>
                </a:lnTo>
                <a:close/>
              </a:path>
            </a:pathLst>
          </a:custGeom>
          <a:blipFill>
            <a:blip r:embed="rId4"/>
            <a:stretch>
              <a:fillRect l="0" t="0" r="0" b="0"/>
            </a:stretch>
          </a:blipFill>
        </p:spPr>
      </p:sp>
      <p:sp>
        <p:nvSpPr>
          <p:cNvPr name="TextBox 5" id="5"/>
          <p:cNvSpPr txBox="true"/>
          <p:nvPr/>
        </p:nvSpPr>
        <p:spPr>
          <a:xfrm rot="0">
            <a:off x="1028700" y="1656922"/>
            <a:ext cx="5223737"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javascript events</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887333" y="1542622"/>
            <a:ext cx="10371967" cy="7279649"/>
          </a:xfrm>
          <a:custGeom>
            <a:avLst/>
            <a:gdLst/>
            <a:ahLst/>
            <a:cxnLst/>
            <a:rect r="r" b="b" t="t" l="l"/>
            <a:pathLst>
              <a:path h="7279649" w="10371967">
                <a:moveTo>
                  <a:pt x="0" y="0"/>
                </a:moveTo>
                <a:lnTo>
                  <a:pt x="10371967" y="0"/>
                </a:lnTo>
                <a:lnTo>
                  <a:pt x="10371967" y="7279648"/>
                </a:lnTo>
                <a:lnTo>
                  <a:pt x="0" y="7279648"/>
                </a:lnTo>
                <a:lnTo>
                  <a:pt x="0" y="0"/>
                </a:lnTo>
                <a:close/>
              </a:path>
            </a:pathLst>
          </a:custGeom>
          <a:blipFill>
            <a:blip r:embed="rId4"/>
            <a:stretch>
              <a:fillRect l="0" t="0" r="0" b="0"/>
            </a:stretch>
          </a:blipFill>
        </p:spPr>
      </p:sp>
      <p:sp>
        <p:nvSpPr>
          <p:cNvPr name="TextBox 5" id="5"/>
          <p:cNvSpPr txBox="true"/>
          <p:nvPr/>
        </p:nvSpPr>
        <p:spPr>
          <a:xfrm rot="0">
            <a:off x="1028700" y="1656922"/>
            <a:ext cx="5223737"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javascript events</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3453319"/>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Event Delegation</a:t>
            </a:r>
          </a:p>
          <a:p>
            <a:pPr algn="just">
              <a:lnSpc>
                <a:spcPts val="3919"/>
              </a:lnSpc>
            </a:pPr>
          </a:p>
          <a:p>
            <a:pPr algn="just">
              <a:lnSpc>
                <a:spcPts val="3919"/>
              </a:lnSpc>
            </a:pPr>
            <a:r>
              <a:rPr lang="en-US" sz="2799">
                <a:solidFill>
                  <a:srgbClr val="272727"/>
                </a:solidFill>
                <a:latin typeface="TT Fors"/>
                <a:ea typeface="TT Fors"/>
                <a:cs typeface="TT Fors"/>
                <a:sym typeface="TT Fors"/>
              </a:rPr>
              <a:t>Even</a:t>
            </a:r>
            <a:r>
              <a:rPr lang="en-US" sz="2799">
                <a:solidFill>
                  <a:srgbClr val="272727"/>
                </a:solidFill>
                <a:latin typeface="TT Fors"/>
                <a:ea typeface="TT Fors"/>
                <a:cs typeface="TT Fors"/>
                <a:sym typeface="TT Fors"/>
              </a:rPr>
              <a:t>t delegation is a technique commonly used to avoid assigning numerous duplicate event listen</a:t>
            </a:r>
            <a:r>
              <a:rPr lang="en-US" sz="2799">
                <a:solidFill>
                  <a:srgbClr val="272727"/>
                </a:solidFill>
                <a:latin typeface="TT Fors"/>
                <a:ea typeface="TT Fors"/>
                <a:cs typeface="TT Fors"/>
                <a:sym typeface="TT Fors"/>
              </a:rPr>
              <a:t>ers to a list</a:t>
            </a:r>
          </a:p>
          <a:p>
            <a:pPr algn="just">
              <a:lnSpc>
                <a:spcPts val="3919"/>
              </a:lnSpc>
            </a:pPr>
            <a:r>
              <a:rPr lang="en-US" sz="2799">
                <a:solidFill>
                  <a:srgbClr val="272727"/>
                </a:solidFill>
                <a:latin typeface="TT Fors"/>
                <a:ea typeface="TT Fors"/>
                <a:cs typeface="TT Fors"/>
                <a:sym typeface="TT Fors"/>
              </a:rPr>
              <a:t>of child events.</a:t>
            </a:r>
          </a:p>
          <a:p>
            <a:pPr algn="just">
              <a:lnSpc>
                <a:spcPts val="3919"/>
              </a:lnSpc>
            </a:pP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javascript events</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3320213"/>
            <a:ext cx="9779381" cy="1472011"/>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Suppose </a:t>
            </a:r>
            <a:r>
              <a:rPr lang="en-US" sz="2799">
                <a:solidFill>
                  <a:srgbClr val="272727"/>
                </a:solidFill>
                <a:latin typeface="TT Fors"/>
                <a:ea typeface="TT Fors"/>
                <a:cs typeface="TT Fors"/>
                <a:sym typeface="TT Fors"/>
              </a:rPr>
              <a:t>we have numerous image thumbnails within a parent element</a:t>
            </a:r>
          </a:p>
          <a:p>
            <a:pPr algn="just">
              <a:lnSpc>
                <a:spcPts val="3919"/>
              </a:lnSpc>
            </a:pPr>
          </a:p>
        </p:txBody>
      </p:sp>
      <p:sp>
        <p:nvSpPr>
          <p:cNvPr name="TextBox 9" id="9"/>
          <p:cNvSpPr txBox="true"/>
          <p:nvPr/>
        </p:nvSpPr>
        <p:spPr>
          <a:xfrm rot="0">
            <a:off x="7479919" y="2413814"/>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javascript events</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7479919" y="4858899"/>
            <a:ext cx="5508855" cy="3575283"/>
          </a:xfrm>
          <a:custGeom>
            <a:avLst/>
            <a:gdLst/>
            <a:ahLst/>
            <a:cxnLst/>
            <a:rect r="r" b="b" t="t" l="l"/>
            <a:pathLst>
              <a:path h="3575283" w="5508855">
                <a:moveTo>
                  <a:pt x="0" y="0"/>
                </a:moveTo>
                <a:lnTo>
                  <a:pt x="5508855" y="0"/>
                </a:lnTo>
                <a:lnTo>
                  <a:pt x="5508855" y="3575283"/>
                </a:lnTo>
                <a:lnTo>
                  <a:pt x="0" y="3575283"/>
                </a:lnTo>
                <a:lnTo>
                  <a:pt x="0" y="0"/>
                </a:lnTo>
                <a:close/>
              </a:path>
            </a:pathLst>
          </a:custGeom>
          <a:blipFill>
            <a:blip r:embed="rId5"/>
            <a:stretch>
              <a:fillRect l="0" t="0" r="0" b="0"/>
            </a:stretch>
          </a:blipFill>
        </p:spPr>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2413814"/>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javascript events</a:t>
            </a:r>
          </a:p>
        </p:txBody>
      </p:sp>
      <p:sp>
        <p:nvSpPr>
          <p:cNvPr name="Freeform 9" id="9"/>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7479919" y="5989163"/>
            <a:ext cx="9919044" cy="1807676"/>
          </a:xfrm>
          <a:custGeom>
            <a:avLst/>
            <a:gdLst/>
            <a:ahLst/>
            <a:cxnLst/>
            <a:rect r="r" b="b" t="t" l="l"/>
            <a:pathLst>
              <a:path h="1807676" w="9919044">
                <a:moveTo>
                  <a:pt x="0" y="0"/>
                </a:moveTo>
                <a:lnTo>
                  <a:pt x="9919045" y="0"/>
                </a:lnTo>
                <a:lnTo>
                  <a:pt x="9919045" y="1807676"/>
                </a:lnTo>
                <a:lnTo>
                  <a:pt x="0" y="1807676"/>
                </a:lnTo>
                <a:lnTo>
                  <a:pt x="0" y="0"/>
                </a:lnTo>
                <a:close/>
              </a:path>
            </a:pathLst>
          </a:custGeom>
          <a:blipFill>
            <a:blip r:embed="rId5"/>
            <a:stretch>
              <a:fillRect l="0" t="0" r="0" b="0"/>
            </a:stretch>
          </a:blipFill>
        </p:spPr>
      </p:sp>
      <p:sp>
        <p:nvSpPr>
          <p:cNvPr name="TextBox 11" id="11"/>
          <p:cNvSpPr txBox="true"/>
          <p:nvPr/>
        </p:nvSpPr>
        <p:spPr>
          <a:xfrm rot="0">
            <a:off x="7479919" y="3320213"/>
            <a:ext cx="9779381" cy="1967338"/>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Now what if you wanted to do something special </a:t>
            </a:r>
            <a:r>
              <a:rPr lang="en-US" sz="2799">
                <a:solidFill>
                  <a:srgbClr val="272727"/>
                </a:solidFill>
                <a:latin typeface="TT Fors"/>
                <a:ea typeface="TT Fors"/>
                <a:cs typeface="TT Fors"/>
                <a:sym typeface="TT Fors"/>
              </a:rPr>
              <a:t>when the user clicks the mouse on an  (for instance, change the styling of the image, or display its caption on top of the image). </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2413814"/>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javascript events</a:t>
            </a:r>
          </a:p>
        </p:txBody>
      </p:sp>
      <p:sp>
        <p:nvSpPr>
          <p:cNvPr name="Freeform 9" id="9"/>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7479919" y="4970789"/>
            <a:ext cx="10243703" cy="3529514"/>
          </a:xfrm>
          <a:custGeom>
            <a:avLst/>
            <a:gdLst/>
            <a:ahLst/>
            <a:cxnLst/>
            <a:rect r="r" b="b" t="t" l="l"/>
            <a:pathLst>
              <a:path h="3529514" w="10243703">
                <a:moveTo>
                  <a:pt x="0" y="0"/>
                </a:moveTo>
                <a:lnTo>
                  <a:pt x="10243704" y="0"/>
                </a:lnTo>
                <a:lnTo>
                  <a:pt x="10243704" y="3529514"/>
                </a:lnTo>
                <a:lnTo>
                  <a:pt x="0" y="3529514"/>
                </a:lnTo>
                <a:lnTo>
                  <a:pt x="0" y="0"/>
                </a:lnTo>
                <a:close/>
              </a:path>
            </a:pathLst>
          </a:custGeom>
          <a:blipFill>
            <a:blip r:embed="rId5"/>
            <a:stretch>
              <a:fillRect l="0" t="0" r="0" b="0"/>
            </a:stretch>
          </a:blipFill>
        </p:spPr>
      </p:sp>
      <p:sp>
        <p:nvSpPr>
          <p:cNvPr name="TextBox 11" id="11"/>
          <p:cNvSpPr txBox="true"/>
          <p:nvPr/>
        </p:nvSpPr>
        <p:spPr>
          <a:xfrm rot="0">
            <a:off x="7479919" y="3320213"/>
            <a:ext cx="9779381" cy="976684"/>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While this code is straig</a:t>
            </a:r>
            <a:r>
              <a:rPr lang="en-US" sz="2799">
                <a:solidFill>
                  <a:srgbClr val="272727"/>
                </a:solidFill>
                <a:latin typeface="TT Fors"/>
                <a:ea typeface="TT Fors"/>
                <a:cs typeface="TT Fors"/>
                <a:sym typeface="TT Fors"/>
              </a:rPr>
              <a:t>htforward, it would be exceedingly memory inefficient if there were many images on the page</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2413814"/>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javascript events</a:t>
            </a:r>
          </a:p>
        </p:txBody>
      </p:sp>
      <p:sp>
        <p:nvSpPr>
          <p:cNvPr name="Freeform 9" id="9"/>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6296800" y="6545366"/>
            <a:ext cx="10962500" cy="1446987"/>
          </a:xfrm>
          <a:custGeom>
            <a:avLst/>
            <a:gdLst/>
            <a:ahLst/>
            <a:cxnLst/>
            <a:rect r="r" b="b" t="t" l="l"/>
            <a:pathLst>
              <a:path h="1446987" w="10962500">
                <a:moveTo>
                  <a:pt x="0" y="0"/>
                </a:moveTo>
                <a:lnTo>
                  <a:pt x="10962500" y="0"/>
                </a:lnTo>
                <a:lnTo>
                  <a:pt x="10962500" y="1446987"/>
                </a:lnTo>
                <a:lnTo>
                  <a:pt x="0" y="1446987"/>
                </a:lnTo>
                <a:lnTo>
                  <a:pt x="0" y="0"/>
                </a:lnTo>
                <a:close/>
              </a:path>
            </a:pathLst>
          </a:custGeom>
          <a:blipFill>
            <a:blip r:embed="rId5"/>
            <a:stretch>
              <a:fillRect l="0" t="0" r="0" b="0"/>
            </a:stretch>
          </a:blipFill>
        </p:spPr>
      </p:sp>
      <p:sp>
        <p:nvSpPr>
          <p:cNvPr name="TextBox 11" id="11"/>
          <p:cNvSpPr txBox="true"/>
          <p:nvPr/>
        </p:nvSpPr>
        <p:spPr>
          <a:xfrm rot="0">
            <a:off x="7479919" y="3320213"/>
            <a:ext cx="9779381" cy="3948646"/>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The JavaScript dataset property provides read </a:t>
            </a:r>
            <a:r>
              <a:rPr lang="en-US" sz="2799">
                <a:solidFill>
                  <a:srgbClr val="272727"/>
                </a:solidFill>
                <a:latin typeface="TT Fors"/>
                <a:ea typeface="TT Fors"/>
                <a:cs typeface="TT Fors"/>
                <a:sym typeface="TT Fors"/>
              </a:rPr>
              <a:t>and write access to custom data attributes (data-*) defined on HTML elements, bridging HTML markup and JavaScript logic cleanly.</a:t>
            </a:r>
          </a:p>
          <a:p>
            <a:pPr algn="just">
              <a:lnSpc>
                <a:spcPts val="3919"/>
              </a:lnSpc>
            </a:pPr>
          </a:p>
          <a:p>
            <a:pPr algn="just">
              <a:lnSpc>
                <a:spcPts val="3919"/>
              </a:lnSpc>
            </a:pPr>
            <a:r>
              <a:rPr lang="en-US" sz="2799">
                <a:solidFill>
                  <a:srgbClr val="272727"/>
                </a:solidFill>
                <a:latin typeface="TT Fors"/>
                <a:ea typeface="TT Fors"/>
                <a:cs typeface="TT Fors"/>
                <a:sym typeface="TT Fors"/>
              </a:rPr>
              <a:t>In HTML, custom attributes start with data-:</a:t>
            </a:r>
          </a:p>
          <a:p>
            <a:pPr algn="just">
              <a:lnSpc>
                <a:spcPts val="3919"/>
              </a:lnSpc>
            </a:pPr>
          </a:p>
          <a:p>
            <a:pPr algn="just">
              <a:lnSpc>
                <a:spcPts val="3919"/>
              </a:lnSpc>
            </a:pP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2413814"/>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javascript events</a:t>
            </a:r>
          </a:p>
        </p:txBody>
      </p:sp>
      <p:sp>
        <p:nvSpPr>
          <p:cNvPr name="Freeform 9" id="9"/>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6387204" y="4858501"/>
            <a:ext cx="10872096" cy="4698819"/>
          </a:xfrm>
          <a:custGeom>
            <a:avLst/>
            <a:gdLst/>
            <a:ahLst/>
            <a:cxnLst/>
            <a:rect r="r" b="b" t="t" l="l"/>
            <a:pathLst>
              <a:path h="4698819" w="10872096">
                <a:moveTo>
                  <a:pt x="0" y="0"/>
                </a:moveTo>
                <a:lnTo>
                  <a:pt x="10872096" y="0"/>
                </a:lnTo>
                <a:lnTo>
                  <a:pt x="10872096" y="4698820"/>
                </a:lnTo>
                <a:lnTo>
                  <a:pt x="0" y="4698820"/>
                </a:lnTo>
                <a:lnTo>
                  <a:pt x="0" y="0"/>
                </a:lnTo>
                <a:close/>
              </a:path>
            </a:pathLst>
          </a:custGeom>
          <a:blipFill>
            <a:blip r:embed="rId5"/>
            <a:stretch>
              <a:fillRect l="0" t="0" r="0" b="0"/>
            </a:stretch>
          </a:blipFill>
        </p:spPr>
      </p:sp>
      <p:sp>
        <p:nvSpPr>
          <p:cNvPr name="TextBox 11" id="11"/>
          <p:cNvSpPr txBox="true"/>
          <p:nvPr/>
        </p:nvSpPr>
        <p:spPr>
          <a:xfrm rot="0">
            <a:off x="7479919" y="3320213"/>
            <a:ext cx="9779381" cy="976684"/>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In JavaScript, element.dataset</a:t>
            </a:r>
            <a:r>
              <a:rPr lang="en-US" sz="2799">
                <a:solidFill>
                  <a:srgbClr val="272727"/>
                </a:solidFill>
                <a:latin typeface="TT Fors"/>
                <a:ea typeface="TT Fors"/>
                <a:cs typeface="TT Fors"/>
                <a:sym typeface="TT Fors"/>
              </a:rPr>
              <a:t> accesses those attributes as an obje</a:t>
            </a:r>
            <a:r>
              <a:rPr lang="en-US" sz="2799">
                <a:solidFill>
                  <a:srgbClr val="272727"/>
                </a:solidFill>
                <a:latin typeface="TT Fors"/>
                <a:ea typeface="TT Fors"/>
                <a:cs typeface="TT Fors"/>
                <a:sym typeface="TT Fors"/>
              </a:rPr>
              <a:t>ct map:</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3021502"/>
            <a:ext cx="12287637" cy="5738442"/>
          </a:xfrm>
          <a:custGeom>
            <a:avLst/>
            <a:gdLst/>
            <a:ahLst/>
            <a:cxnLst/>
            <a:rect r="r" b="b" t="t" l="l"/>
            <a:pathLst>
              <a:path h="5738442" w="12287637">
                <a:moveTo>
                  <a:pt x="0" y="0"/>
                </a:moveTo>
                <a:lnTo>
                  <a:pt x="12287637" y="0"/>
                </a:lnTo>
                <a:lnTo>
                  <a:pt x="12287637" y="5738442"/>
                </a:lnTo>
                <a:lnTo>
                  <a:pt x="0" y="5738442"/>
                </a:lnTo>
                <a:lnTo>
                  <a:pt x="0" y="0"/>
                </a:lnTo>
                <a:close/>
              </a:path>
            </a:pathLst>
          </a:custGeom>
          <a:blipFill>
            <a:blip r:embed="rId4"/>
            <a:stretch>
              <a:fillRect l="0" t="0" r="0" b="0"/>
            </a:stretch>
          </a:blipFill>
        </p:spPr>
      </p:sp>
      <p:sp>
        <p:nvSpPr>
          <p:cNvPr name="TextBox 5" id="5"/>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javascript events</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bg>
      <p:bgPr>
        <a:solidFill>
          <a:srgbClr val="1F5014"/>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97719" y="-3719573"/>
            <a:ext cx="11892632" cy="17726146"/>
          </a:xfrm>
          <a:custGeom>
            <a:avLst/>
            <a:gdLst/>
            <a:ahLst/>
            <a:cxnLst/>
            <a:rect r="r" b="b" t="t" l="l"/>
            <a:pathLst>
              <a:path h="17726146" w="11892632">
                <a:moveTo>
                  <a:pt x="0" y="0"/>
                </a:moveTo>
                <a:lnTo>
                  <a:pt x="11892632" y="0"/>
                </a:lnTo>
                <a:lnTo>
                  <a:pt x="11892632" y="17726146"/>
                </a:lnTo>
                <a:lnTo>
                  <a:pt x="0" y="17726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402835"/>
            <a:ext cx="7882760" cy="1728981"/>
          </a:xfrm>
          <a:prstGeom prst="rect">
            <a:avLst/>
          </a:prstGeom>
        </p:spPr>
        <p:txBody>
          <a:bodyPr anchor="t" rtlCol="false" tIns="0" lIns="0" bIns="0" rIns="0">
            <a:spAutoFit/>
          </a:bodyPr>
          <a:lstStyle/>
          <a:p>
            <a:pPr algn="l">
              <a:lnSpc>
                <a:spcPts val="12846"/>
              </a:lnSpc>
            </a:pPr>
            <a:r>
              <a:rPr lang="en-US" sz="12976" spc="-259" b="true">
                <a:solidFill>
                  <a:srgbClr val="F6F6E9"/>
                </a:solidFill>
                <a:latin typeface="Bebas Neue Bold"/>
                <a:ea typeface="Bebas Neue Bold"/>
                <a:cs typeface="Bebas Neue Bold"/>
                <a:sym typeface="Bebas Neue Bold"/>
              </a:rPr>
              <a:t>event types</a:t>
            </a:r>
          </a:p>
        </p:txBody>
      </p:sp>
      <p:grpSp>
        <p:nvGrpSpPr>
          <p:cNvPr name="Group 4" id="4"/>
          <p:cNvGrpSpPr/>
          <p:nvPr/>
        </p:nvGrpSpPr>
        <p:grpSpPr>
          <a:xfrm rot="0">
            <a:off x="9665183" y="1028700"/>
            <a:ext cx="8229600" cy="822960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9B76"/>
            </a:solidFill>
          </p:spPr>
        </p:sp>
        <p:sp>
          <p:nvSpPr>
            <p:cNvPr name="TextBox 6" id="6"/>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7" id="7"/>
          <p:cNvGrpSpPr/>
          <p:nvPr/>
        </p:nvGrpSpPr>
        <p:grpSpPr>
          <a:xfrm rot="0">
            <a:off x="10227481" y="1590998"/>
            <a:ext cx="7105005" cy="7105005"/>
            <a:chOff x="0" y="0"/>
            <a:chExt cx="812800" cy="812800"/>
          </a:xfrm>
        </p:grpSpPr>
        <p:sp>
          <p:nvSpPr>
            <p:cNvPr name="Freeform 8" id="8"/>
            <p:cNvSpPr/>
            <p:nvPr/>
          </p:nvSpPr>
          <p:spPr>
            <a:xfrm flipH="true" flipV="false" rot="0">
              <a:off x="0" y="0"/>
              <a:ext cx="812800" cy="812800"/>
            </a:xfrm>
            <a:custGeom>
              <a:avLst/>
              <a:gdLst/>
              <a:ahLst/>
              <a:cxnLst/>
              <a:rect r="r" b="b" t="t" l="l"/>
              <a:pathLst>
                <a:path h="812800" w="812800">
                  <a:moveTo>
                    <a:pt x="406400" y="0"/>
                  </a:moveTo>
                  <a:cubicBezTo>
                    <a:pt x="630849" y="0"/>
                    <a:pt x="812800" y="181951"/>
                    <a:pt x="812800" y="406400"/>
                  </a:cubicBezTo>
                  <a:cubicBezTo>
                    <a:pt x="812800" y="630849"/>
                    <a:pt x="630849" y="812800"/>
                    <a:pt x="406400" y="812800"/>
                  </a:cubicBezTo>
                  <a:cubicBezTo>
                    <a:pt x="181951" y="812800"/>
                    <a:pt x="0" y="630849"/>
                    <a:pt x="0" y="406400"/>
                  </a:cubicBezTo>
                  <a:cubicBezTo>
                    <a:pt x="0" y="181951"/>
                    <a:pt x="181951" y="0"/>
                    <a:pt x="406400" y="0"/>
                  </a:cubicBezTo>
                  <a:close/>
                </a:path>
              </a:pathLst>
            </a:custGeom>
            <a:blipFill>
              <a:blip r:embed="rId4"/>
              <a:stretch>
                <a:fillRect l="0" t="0" r="-50000" b="0"/>
              </a:stretch>
            </a:blipFill>
            <a:ln w="238125" cap="sq">
              <a:solidFill>
                <a:srgbClr val="262262"/>
              </a:solidFill>
              <a:prstDash val="solid"/>
              <a:miter/>
            </a:ln>
          </p:spPr>
        </p:sp>
      </p:gr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1967338"/>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Mous</a:t>
            </a:r>
            <a:r>
              <a:rPr lang="en-US" sz="2799">
                <a:solidFill>
                  <a:srgbClr val="272727"/>
                </a:solidFill>
                <a:latin typeface="TT Fors"/>
                <a:ea typeface="TT Fors"/>
                <a:cs typeface="TT Fors"/>
                <a:sym typeface="TT Fors"/>
              </a:rPr>
              <a:t>e events are defined to capture a range of interactions driven by the mouse. These can be further categorized as mo</a:t>
            </a:r>
            <a:r>
              <a:rPr lang="en-US" sz="2799">
                <a:solidFill>
                  <a:srgbClr val="272727"/>
                </a:solidFill>
                <a:latin typeface="TT Fors"/>
                <a:ea typeface="TT Fors"/>
                <a:cs typeface="TT Fors"/>
                <a:sym typeface="TT Fors"/>
              </a:rPr>
              <a:t>use click and mouse move events</a:t>
            </a: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javascript event types</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2842206"/>
            <a:ext cx="12339234" cy="6097033"/>
          </a:xfrm>
          <a:custGeom>
            <a:avLst/>
            <a:gdLst/>
            <a:ahLst/>
            <a:cxnLst/>
            <a:rect r="r" b="b" t="t" l="l"/>
            <a:pathLst>
              <a:path h="6097033" w="12339234">
                <a:moveTo>
                  <a:pt x="0" y="0"/>
                </a:moveTo>
                <a:lnTo>
                  <a:pt x="12339234" y="0"/>
                </a:lnTo>
                <a:lnTo>
                  <a:pt x="12339234" y="6097034"/>
                </a:lnTo>
                <a:lnTo>
                  <a:pt x="0" y="6097034"/>
                </a:lnTo>
                <a:lnTo>
                  <a:pt x="0" y="0"/>
                </a:lnTo>
                <a:close/>
              </a:path>
            </a:pathLst>
          </a:custGeom>
          <a:blipFill>
            <a:blip r:embed="rId4"/>
            <a:stretch>
              <a:fillRect l="0" t="0" r="0" b="0"/>
            </a:stretch>
          </a:blipFill>
        </p:spPr>
      </p:sp>
      <p:sp>
        <p:nvSpPr>
          <p:cNvPr name="TextBox 5" id="5"/>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mouse events</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Freeform 8" id="8"/>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6906650" y="5475469"/>
            <a:ext cx="10861974" cy="2476162"/>
          </a:xfrm>
          <a:custGeom>
            <a:avLst/>
            <a:gdLst/>
            <a:ahLst/>
            <a:cxnLst/>
            <a:rect r="r" b="b" t="t" l="l"/>
            <a:pathLst>
              <a:path h="2476162" w="10861974">
                <a:moveTo>
                  <a:pt x="0" y="0"/>
                </a:moveTo>
                <a:lnTo>
                  <a:pt x="10861974" y="0"/>
                </a:lnTo>
                <a:lnTo>
                  <a:pt x="10861974" y="2476161"/>
                </a:lnTo>
                <a:lnTo>
                  <a:pt x="0" y="2476161"/>
                </a:lnTo>
                <a:lnTo>
                  <a:pt x="0" y="0"/>
                </a:lnTo>
                <a:close/>
              </a:path>
            </a:pathLst>
          </a:custGeom>
          <a:blipFill>
            <a:blip r:embed="rId5"/>
            <a:stretch>
              <a:fillRect l="0" t="0" r="0" b="0"/>
            </a:stretch>
          </a:blipFill>
        </p:spPr>
      </p:sp>
      <p:sp>
        <p:nvSpPr>
          <p:cNvPr name="TextBox 10" id="10"/>
          <p:cNvSpPr txBox="true"/>
          <p:nvPr/>
        </p:nvSpPr>
        <p:spPr>
          <a:xfrm rot="0">
            <a:off x="7479919" y="4432109"/>
            <a:ext cx="9779381" cy="976684"/>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Keyboard</a:t>
            </a:r>
            <a:r>
              <a:rPr lang="en-US" sz="2799">
                <a:solidFill>
                  <a:srgbClr val="272727"/>
                </a:solidFill>
                <a:latin typeface="TT Fors"/>
                <a:ea typeface="TT Fors"/>
                <a:cs typeface="TT Fors"/>
                <a:sym typeface="TT Fors"/>
              </a:rPr>
              <a:t> events are most useful within input fields</a:t>
            </a:r>
          </a:p>
          <a:p>
            <a:pPr algn="just">
              <a:lnSpc>
                <a:spcPts val="3919"/>
              </a:lnSpc>
            </a:pPr>
          </a:p>
        </p:txBody>
      </p:sp>
      <p:sp>
        <p:nvSpPr>
          <p:cNvPr name="TextBox 11" id="11"/>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javascript event types</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Freeform 8" id="8"/>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7479919" y="4432109"/>
            <a:ext cx="9779381" cy="1967338"/>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Forms are</a:t>
            </a:r>
            <a:r>
              <a:rPr lang="en-US" sz="2799">
                <a:solidFill>
                  <a:srgbClr val="272727"/>
                </a:solidFill>
                <a:latin typeface="TT Fors"/>
                <a:ea typeface="TT Fors"/>
                <a:cs typeface="TT Fors"/>
                <a:sym typeface="TT Fors"/>
              </a:rPr>
              <a:t> the main means by which user input is collected and transmitted to the Server. Events triggered by forms are form events.</a:t>
            </a:r>
          </a:p>
          <a:p>
            <a:pPr algn="just">
              <a:lnSpc>
                <a:spcPts val="3919"/>
              </a:lnSpc>
            </a:pPr>
          </a:p>
        </p:txBody>
      </p:sp>
      <p:sp>
        <p:nvSpPr>
          <p:cNvPr name="TextBox 10" id="10"/>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javascript event types</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894622" y="1542622"/>
            <a:ext cx="11364678" cy="7456858"/>
          </a:xfrm>
          <a:custGeom>
            <a:avLst/>
            <a:gdLst/>
            <a:ahLst/>
            <a:cxnLst/>
            <a:rect r="r" b="b" t="t" l="l"/>
            <a:pathLst>
              <a:path h="7456858" w="11364678">
                <a:moveTo>
                  <a:pt x="0" y="0"/>
                </a:moveTo>
                <a:lnTo>
                  <a:pt x="11364678" y="0"/>
                </a:lnTo>
                <a:lnTo>
                  <a:pt x="11364678" y="7456857"/>
                </a:lnTo>
                <a:lnTo>
                  <a:pt x="0" y="7456857"/>
                </a:lnTo>
                <a:lnTo>
                  <a:pt x="0" y="0"/>
                </a:lnTo>
                <a:close/>
              </a:path>
            </a:pathLst>
          </a:custGeom>
          <a:blipFill>
            <a:blip r:embed="rId4"/>
            <a:stretch>
              <a:fillRect l="0" t="0" r="0" b="0"/>
            </a:stretch>
          </a:blipFill>
        </p:spPr>
      </p:sp>
      <p:sp>
        <p:nvSpPr>
          <p:cNvPr name="TextBox 5" id="5"/>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form events</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Freeform 8" id="8"/>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7479919" y="4432109"/>
            <a:ext cx="9779381" cy="1472011"/>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Med</a:t>
            </a:r>
            <a:r>
              <a:rPr lang="en-US" sz="2799">
                <a:solidFill>
                  <a:srgbClr val="272727"/>
                </a:solidFill>
                <a:latin typeface="TT Fors"/>
                <a:ea typeface="TT Fors"/>
                <a:cs typeface="TT Fors"/>
                <a:sym typeface="TT Fors"/>
              </a:rPr>
              <a:t>ia events are those connected to the &lt;audio&gt; and &lt;video&gt; elements</a:t>
            </a:r>
          </a:p>
          <a:p>
            <a:pPr algn="just">
              <a:lnSpc>
                <a:spcPts val="3919"/>
              </a:lnSpc>
            </a:pPr>
          </a:p>
        </p:txBody>
      </p:sp>
      <p:sp>
        <p:nvSpPr>
          <p:cNvPr name="TextBox 10" id="10"/>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javascript event types</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3032796"/>
            <a:ext cx="12296690" cy="4221409"/>
          </a:xfrm>
          <a:custGeom>
            <a:avLst/>
            <a:gdLst/>
            <a:ahLst/>
            <a:cxnLst/>
            <a:rect r="r" b="b" t="t" l="l"/>
            <a:pathLst>
              <a:path h="4221409" w="12296690">
                <a:moveTo>
                  <a:pt x="0" y="0"/>
                </a:moveTo>
                <a:lnTo>
                  <a:pt x="12296690" y="0"/>
                </a:lnTo>
                <a:lnTo>
                  <a:pt x="12296690" y="4221408"/>
                </a:lnTo>
                <a:lnTo>
                  <a:pt x="0" y="4221408"/>
                </a:lnTo>
                <a:lnTo>
                  <a:pt x="0" y="0"/>
                </a:lnTo>
                <a:close/>
              </a:path>
            </a:pathLst>
          </a:custGeom>
          <a:blipFill>
            <a:blip r:embed="rId4"/>
            <a:stretch>
              <a:fillRect l="0" t="0" r="0" b="0"/>
            </a:stretch>
          </a:blipFill>
        </p:spPr>
      </p:sp>
      <p:sp>
        <p:nvSpPr>
          <p:cNvPr name="TextBox 5" id="5"/>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media events</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Freeform 8" id="8"/>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7479919" y="4432109"/>
            <a:ext cx="9779381" cy="1472011"/>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Fr</a:t>
            </a:r>
            <a:r>
              <a:rPr lang="en-US" sz="2799">
                <a:solidFill>
                  <a:srgbClr val="272727"/>
                </a:solidFill>
                <a:latin typeface="TT Fors"/>
                <a:ea typeface="TT Fors"/>
                <a:cs typeface="TT Fors"/>
                <a:sym typeface="TT Fors"/>
              </a:rPr>
              <a:t>ame events are the events related to the browser frame that contains your web page. </a:t>
            </a:r>
          </a:p>
          <a:p>
            <a:pPr algn="just">
              <a:lnSpc>
                <a:spcPts val="3919"/>
              </a:lnSpc>
            </a:pPr>
          </a:p>
        </p:txBody>
      </p:sp>
      <p:sp>
        <p:nvSpPr>
          <p:cNvPr name="TextBox 10" id="10"/>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javascript event types</a:t>
            </a:r>
          </a:p>
        </p:txBody>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16856" y="1542622"/>
            <a:ext cx="12307960" cy="6153980"/>
          </a:xfrm>
          <a:custGeom>
            <a:avLst/>
            <a:gdLst/>
            <a:ahLst/>
            <a:cxnLst/>
            <a:rect r="r" b="b" t="t" l="l"/>
            <a:pathLst>
              <a:path h="6153980" w="12307960">
                <a:moveTo>
                  <a:pt x="0" y="0"/>
                </a:moveTo>
                <a:lnTo>
                  <a:pt x="12307960" y="0"/>
                </a:lnTo>
                <a:lnTo>
                  <a:pt x="12307960" y="6153980"/>
                </a:lnTo>
                <a:lnTo>
                  <a:pt x="0" y="6153980"/>
                </a:lnTo>
                <a:lnTo>
                  <a:pt x="0" y="0"/>
                </a:lnTo>
                <a:close/>
              </a:path>
            </a:pathLst>
          </a:custGeom>
          <a:blipFill>
            <a:blip r:embed="rId4"/>
            <a:stretch>
              <a:fillRect l="0" t="0" r="0" b="0"/>
            </a:stretch>
          </a:blipFill>
        </p:spPr>
      </p:sp>
      <p:sp>
        <p:nvSpPr>
          <p:cNvPr name="TextBox 5" id="5"/>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frame events</a:t>
            </a:r>
          </a:p>
        </p:txBody>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bg>
      <p:bgPr>
        <a:solidFill>
          <a:srgbClr val="1F5014"/>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97719" y="-3719573"/>
            <a:ext cx="11892632" cy="17726146"/>
          </a:xfrm>
          <a:custGeom>
            <a:avLst/>
            <a:gdLst/>
            <a:ahLst/>
            <a:cxnLst/>
            <a:rect r="r" b="b" t="t" l="l"/>
            <a:pathLst>
              <a:path h="17726146" w="11892632">
                <a:moveTo>
                  <a:pt x="0" y="0"/>
                </a:moveTo>
                <a:lnTo>
                  <a:pt x="11892632" y="0"/>
                </a:lnTo>
                <a:lnTo>
                  <a:pt x="11892632" y="17726146"/>
                </a:lnTo>
                <a:lnTo>
                  <a:pt x="0" y="17726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587559"/>
            <a:ext cx="7882760" cy="3359532"/>
          </a:xfrm>
          <a:prstGeom prst="rect">
            <a:avLst/>
          </a:prstGeom>
        </p:spPr>
        <p:txBody>
          <a:bodyPr anchor="t" rtlCol="false" tIns="0" lIns="0" bIns="0" rIns="0">
            <a:spAutoFit/>
          </a:bodyPr>
          <a:lstStyle/>
          <a:p>
            <a:pPr algn="l">
              <a:lnSpc>
                <a:spcPts val="12846"/>
              </a:lnSpc>
            </a:pPr>
            <a:r>
              <a:rPr lang="en-US" sz="12976" spc="-259" b="true">
                <a:solidFill>
                  <a:srgbClr val="F6F6E9"/>
                </a:solidFill>
                <a:latin typeface="Bebas Neue Bold"/>
                <a:ea typeface="Bebas Neue Bold"/>
                <a:cs typeface="Bebas Neue Bold"/>
                <a:sym typeface="Bebas Neue Bold"/>
              </a:rPr>
              <a:t>forms in javascript</a:t>
            </a:r>
          </a:p>
        </p:txBody>
      </p:sp>
      <p:grpSp>
        <p:nvGrpSpPr>
          <p:cNvPr name="Group 4" id="4"/>
          <p:cNvGrpSpPr/>
          <p:nvPr/>
        </p:nvGrpSpPr>
        <p:grpSpPr>
          <a:xfrm rot="0">
            <a:off x="9665183" y="1028700"/>
            <a:ext cx="8229600" cy="822960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9B76"/>
            </a:solidFill>
          </p:spPr>
        </p:sp>
        <p:sp>
          <p:nvSpPr>
            <p:cNvPr name="TextBox 6" id="6"/>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7" id="7"/>
          <p:cNvGrpSpPr/>
          <p:nvPr/>
        </p:nvGrpSpPr>
        <p:grpSpPr>
          <a:xfrm rot="0">
            <a:off x="10227481" y="1590998"/>
            <a:ext cx="7105005" cy="7105005"/>
            <a:chOff x="0" y="0"/>
            <a:chExt cx="812800" cy="812800"/>
          </a:xfrm>
        </p:grpSpPr>
        <p:sp>
          <p:nvSpPr>
            <p:cNvPr name="Freeform 8" id="8"/>
            <p:cNvSpPr/>
            <p:nvPr/>
          </p:nvSpPr>
          <p:spPr>
            <a:xfrm flipH="true" flipV="false" rot="0">
              <a:off x="0" y="0"/>
              <a:ext cx="812800" cy="812800"/>
            </a:xfrm>
            <a:custGeom>
              <a:avLst/>
              <a:gdLst/>
              <a:ahLst/>
              <a:cxnLst/>
              <a:rect r="r" b="b" t="t" l="l"/>
              <a:pathLst>
                <a:path h="812800" w="812800">
                  <a:moveTo>
                    <a:pt x="406400" y="0"/>
                  </a:moveTo>
                  <a:cubicBezTo>
                    <a:pt x="630849" y="0"/>
                    <a:pt x="812800" y="181951"/>
                    <a:pt x="812800" y="406400"/>
                  </a:cubicBezTo>
                  <a:cubicBezTo>
                    <a:pt x="812800" y="630849"/>
                    <a:pt x="630849" y="812800"/>
                    <a:pt x="406400" y="812800"/>
                  </a:cubicBezTo>
                  <a:cubicBezTo>
                    <a:pt x="181951" y="812800"/>
                    <a:pt x="0" y="630849"/>
                    <a:pt x="0" y="406400"/>
                  </a:cubicBezTo>
                  <a:cubicBezTo>
                    <a:pt x="0" y="181951"/>
                    <a:pt x="181951" y="0"/>
                    <a:pt x="406400" y="0"/>
                  </a:cubicBezTo>
                  <a:close/>
                </a:path>
              </a:pathLst>
            </a:custGeom>
            <a:blipFill>
              <a:blip r:embed="rId4"/>
              <a:stretch>
                <a:fillRect l="0" t="0" r="-50000" b="0"/>
              </a:stretch>
            </a:blipFill>
            <a:ln w="238125" cap="sq">
              <a:solidFill>
                <a:srgbClr val="262262"/>
              </a:solidFill>
              <a:prstDash val="solid"/>
              <a:miter/>
            </a:ln>
          </p:spPr>
        </p:sp>
      </p:gr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2462665"/>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When wo</a:t>
            </a:r>
            <a:r>
              <a:rPr lang="en-US" sz="2799">
                <a:solidFill>
                  <a:srgbClr val="272727"/>
                </a:solidFill>
                <a:latin typeface="TT Fors"/>
                <a:ea typeface="TT Fors"/>
                <a:cs typeface="TT Fors"/>
                <a:sym typeface="TT Fors"/>
              </a:rPr>
              <a:t>rking with forms in JavaScript, we are typically interested in three types of events: movement between element</a:t>
            </a:r>
            <a:r>
              <a:rPr lang="en-US" sz="2799">
                <a:solidFill>
                  <a:srgbClr val="272727"/>
                </a:solidFill>
                <a:latin typeface="TT Fors"/>
                <a:ea typeface="TT Fors"/>
                <a:cs typeface="TT Fors"/>
                <a:sym typeface="TT Fors"/>
              </a:rPr>
              <a:t>s, data being changed within a form element, and the final submission of the form</a:t>
            </a: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forms in javascript</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695818" y="514901"/>
            <a:ext cx="9406027" cy="9257198"/>
          </a:xfrm>
          <a:custGeom>
            <a:avLst/>
            <a:gdLst/>
            <a:ahLst/>
            <a:cxnLst/>
            <a:rect r="r" b="b" t="t" l="l"/>
            <a:pathLst>
              <a:path h="9257198" w="9406027">
                <a:moveTo>
                  <a:pt x="0" y="0"/>
                </a:moveTo>
                <a:lnTo>
                  <a:pt x="9406027" y="0"/>
                </a:lnTo>
                <a:lnTo>
                  <a:pt x="9406027" y="9257198"/>
                </a:lnTo>
                <a:lnTo>
                  <a:pt x="0" y="9257198"/>
                </a:lnTo>
                <a:lnTo>
                  <a:pt x="0" y="0"/>
                </a:lnTo>
                <a:close/>
              </a:path>
            </a:pathLst>
          </a:custGeom>
          <a:blipFill>
            <a:blip r:embed="rId4"/>
            <a:stretch>
              <a:fillRect l="0" t="0" r="0" b="0"/>
            </a:stretch>
          </a:blipFill>
        </p:spPr>
      </p:sp>
      <p:sp>
        <p:nvSpPr>
          <p:cNvPr name="TextBox 5" id="5"/>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forms in javascript</a:t>
            </a:r>
          </a:p>
        </p:txBody>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2825113"/>
            <a:ext cx="12762514" cy="4636774"/>
          </a:xfrm>
          <a:custGeom>
            <a:avLst/>
            <a:gdLst/>
            <a:ahLst/>
            <a:cxnLst/>
            <a:rect r="r" b="b" t="t" l="l"/>
            <a:pathLst>
              <a:path h="4636774" w="12762514">
                <a:moveTo>
                  <a:pt x="0" y="0"/>
                </a:moveTo>
                <a:lnTo>
                  <a:pt x="12762514" y="0"/>
                </a:lnTo>
                <a:lnTo>
                  <a:pt x="12762514" y="4636774"/>
                </a:lnTo>
                <a:lnTo>
                  <a:pt x="0" y="4636774"/>
                </a:lnTo>
                <a:lnTo>
                  <a:pt x="0" y="0"/>
                </a:lnTo>
                <a:close/>
              </a:path>
            </a:pathLst>
          </a:custGeom>
          <a:blipFill>
            <a:blip r:embed="rId4"/>
            <a:stretch>
              <a:fillRect l="0" t="0" r="0" b="0"/>
            </a:stretch>
          </a:blipFill>
        </p:spPr>
      </p:sp>
      <p:sp>
        <p:nvSpPr>
          <p:cNvPr name="TextBox 5" id="5"/>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forms in javascript</a:t>
            </a:r>
          </a:p>
        </p:txBody>
      </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814257" y="1542622"/>
            <a:ext cx="10959795" cy="7164502"/>
          </a:xfrm>
          <a:custGeom>
            <a:avLst/>
            <a:gdLst/>
            <a:ahLst/>
            <a:cxnLst/>
            <a:rect r="r" b="b" t="t" l="l"/>
            <a:pathLst>
              <a:path h="7164502" w="10959795">
                <a:moveTo>
                  <a:pt x="0" y="0"/>
                </a:moveTo>
                <a:lnTo>
                  <a:pt x="10959795" y="0"/>
                </a:lnTo>
                <a:lnTo>
                  <a:pt x="10959795" y="7164502"/>
                </a:lnTo>
                <a:lnTo>
                  <a:pt x="0" y="7164502"/>
                </a:lnTo>
                <a:lnTo>
                  <a:pt x="0" y="0"/>
                </a:lnTo>
                <a:close/>
              </a:path>
            </a:pathLst>
          </a:custGeom>
          <a:blipFill>
            <a:blip r:embed="rId4"/>
            <a:stretch>
              <a:fillRect l="0" t="0" r="0" b="0"/>
            </a:stretch>
          </a:blipFill>
        </p:spPr>
      </p:sp>
      <p:sp>
        <p:nvSpPr>
          <p:cNvPr name="TextBox 5" id="5"/>
          <p:cNvSpPr txBox="true"/>
          <p:nvPr/>
        </p:nvSpPr>
        <p:spPr>
          <a:xfrm rot="0">
            <a:off x="1028700" y="1656922"/>
            <a:ext cx="9736232"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forms in javascript</a:t>
            </a:r>
          </a:p>
        </p:txBody>
      </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4443973"/>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R</a:t>
            </a:r>
            <a:r>
              <a:rPr lang="en-US" sz="2799">
                <a:solidFill>
                  <a:srgbClr val="272727"/>
                </a:solidFill>
                <a:latin typeface="TT Fors"/>
                <a:ea typeface="TT Fors"/>
                <a:cs typeface="TT Fors"/>
                <a:sym typeface="TT Fors"/>
              </a:rPr>
              <a:t>esponding to Form Movement Events</a:t>
            </a:r>
          </a:p>
          <a:p>
            <a:pPr algn="just">
              <a:lnSpc>
                <a:spcPts val="3919"/>
              </a:lnSpc>
            </a:pPr>
          </a:p>
          <a:p>
            <a:pPr algn="just">
              <a:lnSpc>
                <a:spcPts val="3919"/>
              </a:lnSpc>
            </a:pPr>
            <a:r>
              <a:rPr lang="en-US" sz="2799">
                <a:solidFill>
                  <a:srgbClr val="272727"/>
                </a:solidFill>
                <a:latin typeface="TT Fors"/>
                <a:ea typeface="TT Fors"/>
                <a:cs typeface="TT Fors"/>
                <a:sym typeface="TT Fors"/>
              </a:rPr>
              <a:t>The blur and focus events trigger whenever a form control loses the focus (e.g., the user can no longer change its content or trigger the control) or gains the focu</a:t>
            </a:r>
            <a:r>
              <a:rPr lang="en-US" sz="2799">
                <a:solidFill>
                  <a:srgbClr val="272727"/>
                </a:solidFill>
                <a:latin typeface="TT Fors"/>
                <a:ea typeface="TT Fors"/>
                <a:cs typeface="TT Fors"/>
                <a:sym typeface="TT Fors"/>
              </a:rPr>
              <a:t>s (the user can change its content or trigger the control). One typical use of these events is to dynamically change the appearance of the control that has the focus.</a:t>
            </a: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forms in javascript</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4939300"/>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Validating a Submitted Form</a:t>
            </a:r>
          </a:p>
          <a:p>
            <a:pPr algn="just">
              <a:lnSpc>
                <a:spcPts val="3919"/>
              </a:lnSpc>
            </a:pPr>
          </a:p>
          <a:p>
            <a:pPr algn="just">
              <a:lnSpc>
                <a:spcPts val="3919"/>
              </a:lnSpc>
            </a:pPr>
            <a:r>
              <a:rPr lang="en-US" sz="2799">
                <a:solidFill>
                  <a:srgbClr val="272727"/>
                </a:solidFill>
                <a:latin typeface="TT Fors"/>
                <a:ea typeface="TT Fors"/>
                <a:cs typeface="TT Fors"/>
                <a:sym typeface="TT Fors"/>
              </a:rPr>
              <a:t>Form validation continues to be one of the most common applications of JavaScript. Checking user inputs to ensure that they follow expected rules must happen on the server side for security reasons (in case JavaScript was circumvented); checking </a:t>
            </a:r>
            <a:r>
              <a:rPr lang="en-US" sz="2799">
                <a:solidFill>
                  <a:srgbClr val="272727"/>
                </a:solidFill>
                <a:latin typeface="TT Fors"/>
                <a:ea typeface="TT Fors"/>
                <a:cs typeface="TT Fors"/>
                <a:sym typeface="TT Fors"/>
              </a:rPr>
              <a:t>those same inputs on the client side using JavaScript will reduce server load and increase the perceived speed and responsiveness of the form.</a:t>
            </a: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forms in javascript</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3131665"/>
            <a:ext cx="15968845" cy="4451316"/>
          </a:xfrm>
          <a:custGeom>
            <a:avLst/>
            <a:gdLst/>
            <a:ahLst/>
            <a:cxnLst/>
            <a:rect r="r" b="b" t="t" l="l"/>
            <a:pathLst>
              <a:path h="4451316" w="15968845">
                <a:moveTo>
                  <a:pt x="0" y="0"/>
                </a:moveTo>
                <a:lnTo>
                  <a:pt x="15968845" y="0"/>
                </a:lnTo>
                <a:lnTo>
                  <a:pt x="15968845" y="4451316"/>
                </a:lnTo>
                <a:lnTo>
                  <a:pt x="0" y="4451316"/>
                </a:lnTo>
                <a:lnTo>
                  <a:pt x="0" y="0"/>
                </a:lnTo>
                <a:close/>
              </a:path>
            </a:pathLst>
          </a:custGeom>
          <a:blipFill>
            <a:blip r:embed="rId4"/>
            <a:stretch>
              <a:fillRect l="0" t="0" r="0" b="0"/>
            </a:stretch>
          </a:blipFill>
        </p:spPr>
      </p:sp>
      <p:sp>
        <p:nvSpPr>
          <p:cNvPr name="TextBox 5" id="5"/>
          <p:cNvSpPr txBox="true"/>
          <p:nvPr/>
        </p:nvSpPr>
        <p:spPr>
          <a:xfrm rot="0">
            <a:off x="1028700" y="1656922"/>
            <a:ext cx="8371621"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forms in javascript</a:t>
            </a:r>
          </a:p>
        </p:txBody>
      </p:sp>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2957992"/>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Empty Field Validation</a:t>
            </a:r>
          </a:p>
          <a:p>
            <a:pPr algn="just">
              <a:lnSpc>
                <a:spcPts val="3919"/>
              </a:lnSpc>
            </a:pPr>
          </a:p>
          <a:p>
            <a:pPr algn="just">
              <a:lnSpc>
                <a:spcPts val="3919"/>
              </a:lnSpc>
            </a:pPr>
            <a:r>
              <a:rPr lang="en-US" sz="2799">
                <a:solidFill>
                  <a:srgbClr val="272727"/>
                </a:solidFill>
                <a:latin typeface="TT Fors"/>
                <a:ea typeface="TT Fors"/>
                <a:cs typeface="TT Fors"/>
                <a:sym typeface="TT Fors"/>
              </a:rPr>
              <a:t>A common application of a client-side validation i</a:t>
            </a:r>
            <a:r>
              <a:rPr lang="en-US" sz="2799">
                <a:solidFill>
                  <a:srgbClr val="272727"/>
                </a:solidFill>
                <a:latin typeface="TT Fors"/>
                <a:ea typeface="TT Fors"/>
                <a:cs typeface="TT Fors"/>
                <a:sym typeface="TT Fors"/>
              </a:rPr>
              <a:t>s to make sure the user entered something into a field (or selected a value).</a:t>
            </a: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forms in javascript</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007004" y="3448611"/>
            <a:ext cx="12273993" cy="4884225"/>
          </a:xfrm>
          <a:custGeom>
            <a:avLst/>
            <a:gdLst/>
            <a:ahLst/>
            <a:cxnLst/>
            <a:rect r="r" b="b" t="t" l="l"/>
            <a:pathLst>
              <a:path h="4884225" w="12273993">
                <a:moveTo>
                  <a:pt x="0" y="0"/>
                </a:moveTo>
                <a:lnTo>
                  <a:pt x="12273992" y="0"/>
                </a:lnTo>
                <a:lnTo>
                  <a:pt x="12273992" y="4884224"/>
                </a:lnTo>
                <a:lnTo>
                  <a:pt x="0" y="4884224"/>
                </a:lnTo>
                <a:lnTo>
                  <a:pt x="0" y="0"/>
                </a:lnTo>
                <a:close/>
              </a:path>
            </a:pathLst>
          </a:custGeom>
          <a:blipFill>
            <a:blip r:embed="rId4"/>
            <a:stretch>
              <a:fillRect l="0" t="0" r="0" b="0"/>
            </a:stretch>
          </a:blipFill>
        </p:spPr>
      </p:sp>
      <p:sp>
        <p:nvSpPr>
          <p:cNvPr name="TextBox 5" id="5"/>
          <p:cNvSpPr txBox="true"/>
          <p:nvPr/>
        </p:nvSpPr>
        <p:spPr>
          <a:xfrm rot="0">
            <a:off x="1028700" y="1656922"/>
            <a:ext cx="8371621"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forms in javascript</a:t>
            </a:r>
          </a:p>
        </p:txBody>
      </p:sp>
    </p:spTree>
  </p:cSld>
  <p:clrMapOvr>
    <a:masterClrMapping/>
  </p:clrMapOvr>
</p:sld>
</file>

<file path=ppt/slides/slide80.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2462665"/>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Empty Field Validation</a:t>
            </a:r>
          </a:p>
          <a:p>
            <a:pPr algn="just">
              <a:lnSpc>
                <a:spcPts val="3919"/>
              </a:lnSpc>
            </a:pPr>
          </a:p>
          <a:p>
            <a:pPr algn="just">
              <a:lnSpc>
                <a:spcPts val="3919"/>
              </a:lnSpc>
            </a:pPr>
            <a:r>
              <a:rPr lang="en-US" sz="2799">
                <a:solidFill>
                  <a:srgbClr val="272727"/>
                </a:solidFill>
                <a:latin typeface="TT Fors"/>
                <a:ea typeface="TT Fors"/>
                <a:cs typeface="TT Fors"/>
                <a:sym typeface="TT Fors"/>
              </a:rPr>
              <a:t>To </a:t>
            </a:r>
            <a:r>
              <a:rPr lang="en-US" sz="2799">
                <a:solidFill>
                  <a:srgbClr val="272727"/>
                </a:solidFill>
                <a:latin typeface="TT Fors"/>
                <a:ea typeface="TT Fors"/>
                <a:cs typeface="TT Fors"/>
                <a:sym typeface="TT Fors"/>
              </a:rPr>
              <a:t>ensure that a checkbox or button is t</a:t>
            </a:r>
            <a:r>
              <a:rPr lang="en-US" sz="2799">
                <a:solidFill>
                  <a:srgbClr val="272727"/>
                </a:solidFill>
                <a:latin typeface="TT Fors"/>
                <a:ea typeface="TT Fors"/>
                <a:cs typeface="TT Fors"/>
                <a:sym typeface="TT Fors"/>
              </a:rPr>
              <a:t>icked or selected, you will have to examine its checked property</a:t>
            </a: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forms in javascript</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1.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151662" y="3173736"/>
            <a:ext cx="11984675" cy="5433974"/>
          </a:xfrm>
          <a:custGeom>
            <a:avLst/>
            <a:gdLst/>
            <a:ahLst/>
            <a:cxnLst/>
            <a:rect r="r" b="b" t="t" l="l"/>
            <a:pathLst>
              <a:path h="5433974" w="11984675">
                <a:moveTo>
                  <a:pt x="0" y="0"/>
                </a:moveTo>
                <a:lnTo>
                  <a:pt x="11984676" y="0"/>
                </a:lnTo>
                <a:lnTo>
                  <a:pt x="11984676" y="5433974"/>
                </a:lnTo>
                <a:lnTo>
                  <a:pt x="0" y="5433974"/>
                </a:lnTo>
                <a:lnTo>
                  <a:pt x="0" y="0"/>
                </a:lnTo>
                <a:close/>
              </a:path>
            </a:pathLst>
          </a:custGeom>
          <a:blipFill>
            <a:blip r:embed="rId4"/>
            <a:stretch>
              <a:fillRect l="0" t="0" r="0" b="0"/>
            </a:stretch>
          </a:blipFill>
        </p:spPr>
      </p:sp>
      <p:sp>
        <p:nvSpPr>
          <p:cNvPr name="TextBox 5" id="5"/>
          <p:cNvSpPr txBox="true"/>
          <p:nvPr/>
        </p:nvSpPr>
        <p:spPr>
          <a:xfrm rot="0">
            <a:off x="1028700" y="1656922"/>
            <a:ext cx="8371621"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forms in javascript</a:t>
            </a:r>
          </a:p>
        </p:txBody>
      </p:sp>
    </p:spTree>
  </p:cSld>
  <p:clrMapOvr>
    <a:masterClrMapping/>
  </p:clrMapOvr>
</p:sld>
</file>

<file path=ppt/slides/slide82.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4939300"/>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Empty Field Validation</a:t>
            </a:r>
          </a:p>
          <a:p>
            <a:pPr algn="just">
              <a:lnSpc>
                <a:spcPts val="3919"/>
              </a:lnSpc>
            </a:pPr>
          </a:p>
          <a:p>
            <a:pPr algn="just">
              <a:lnSpc>
                <a:spcPts val="3919"/>
              </a:lnSpc>
            </a:pPr>
            <a:r>
              <a:rPr lang="en-US" sz="2799">
                <a:solidFill>
                  <a:srgbClr val="272727"/>
                </a:solidFill>
                <a:latin typeface="TT Fors"/>
                <a:ea typeface="TT Fors"/>
                <a:cs typeface="TT Fors"/>
                <a:sym typeface="TT Fors"/>
              </a:rPr>
              <a:t>For &lt;s</a:t>
            </a:r>
            <a:r>
              <a:rPr lang="en-US" sz="2799">
                <a:solidFill>
                  <a:srgbClr val="272727"/>
                </a:solidFill>
                <a:latin typeface="TT Fors"/>
                <a:ea typeface="TT Fors"/>
                <a:cs typeface="TT Fors"/>
                <a:sym typeface="TT Fors"/>
              </a:rPr>
              <a:t>elect&gt; lists, there are different ways to check if an item in the list has been selected. If the list is in the default state (i.e., it contains no &lt;opt</a:t>
            </a:r>
            <a:r>
              <a:rPr lang="en-US" sz="2799">
                <a:solidFill>
                  <a:srgbClr val="272727"/>
                </a:solidFill>
                <a:latin typeface="TT Fors"/>
                <a:ea typeface="TT Fors"/>
                <a:cs typeface="TT Fors"/>
                <a:sym typeface="TT Fors"/>
              </a:rPr>
              <a:t>ion&gt; elements),</a:t>
            </a:r>
          </a:p>
          <a:p>
            <a:pPr algn="just">
              <a:lnSpc>
                <a:spcPts val="3919"/>
              </a:lnSpc>
            </a:pPr>
            <a:r>
              <a:rPr lang="en-US" sz="2799">
                <a:solidFill>
                  <a:srgbClr val="272727"/>
                </a:solidFill>
                <a:latin typeface="TT Fors"/>
                <a:ea typeface="TT Fors"/>
                <a:cs typeface="TT Fors"/>
                <a:sym typeface="TT Fors"/>
              </a:rPr>
              <a:t>then its selectedIndex property will be -1. However, if there are &lt;option&gt; elements and one hasn't yet been selected by the user, then the selectedIndex property will have a value of 0 </a:t>
            </a: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forms in javascript</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3.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281958" y="3242547"/>
            <a:ext cx="11724083" cy="5296352"/>
          </a:xfrm>
          <a:custGeom>
            <a:avLst/>
            <a:gdLst/>
            <a:ahLst/>
            <a:cxnLst/>
            <a:rect r="r" b="b" t="t" l="l"/>
            <a:pathLst>
              <a:path h="5296352" w="11724083">
                <a:moveTo>
                  <a:pt x="0" y="0"/>
                </a:moveTo>
                <a:lnTo>
                  <a:pt x="11724084" y="0"/>
                </a:lnTo>
                <a:lnTo>
                  <a:pt x="11724084" y="5296352"/>
                </a:lnTo>
                <a:lnTo>
                  <a:pt x="0" y="5296352"/>
                </a:lnTo>
                <a:lnTo>
                  <a:pt x="0" y="0"/>
                </a:lnTo>
                <a:close/>
              </a:path>
            </a:pathLst>
          </a:custGeom>
          <a:blipFill>
            <a:blip r:embed="rId4"/>
            <a:stretch>
              <a:fillRect l="0" t="0" r="0" b="0"/>
            </a:stretch>
          </a:blipFill>
        </p:spPr>
      </p:sp>
      <p:sp>
        <p:nvSpPr>
          <p:cNvPr name="TextBox 5" id="5"/>
          <p:cNvSpPr txBox="true"/>
          <p:nvPr/>
        </p:nvSpPr>
        <p:spPr>
          <a:xfrm rot="0">
            <a:off x="1028700" y="1656922"/>
            <a:ext cx="8371621"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forms in javascript</a:t>
            </a:r>
          </a:p>
        </p:txBody>
      </p:sp>
    </p:spTree>
  </p:cSld>
  <p:clrMapOvr>
    <a:masterClrMapping/>
  </p:clrMapOvr>
</p:sld>
</file>

<file path=ppt/slides/slide84.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4443973"/>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Number Validation</a:t>
            </a:r>
          </a:p>
          <a:p>
            <a:pPr algn="just">
              <a:lnSpc>
                <a:spcPts val="3919"/>
              </a:lnSpc>
            </a:pPr>
          </a:p>
          <a:p>
            <a:pPr algn="just">
              <a:lnSpc>
                <a:spcPts val="3919"/>
              </a:lnSpc>
            </a:pPr>
            <a:r>
              <a:rPr lang="en-US" sz="2799">
                <a:solidFill>
                  <a:srgbClr val="272727"/>
                </a:solidFill>
                <a:latin typeface="TT Fors"/>
                <a:ea typeface="TT Fors"/>
                <a:cs typeface="TT Fors"/>
                <a:sym typeface="TT Fors"/>
              </a:rPr>
              <a:t>Us</a:t>
            </a:r>
            <a:r>
              <a:rPr lang="en-US" sz="2799">
                <a:solidFill>
                  <a:srgbClr val="272727"/>
                </a:solidFill>
                <a:latin typeface="TT Fors"/>
                <a:ea typeface="TT Fors"/>
                <a:cs typeface="TT Fors"/>
                <a:sym typeface="TT Fors"/>
              </a:rPr>
              <a:t>ing parseInt(), isNAN(), and isFinit</a:t>
            </a:r>
            <a:r>
              <a:rPr lang="en-US" sz="2799">
                <a:solidFill>
                  <a:srgbClr val="272727"/>
                </a:solidFill>
                <a:latin typeface="TT Fors"/>
                <a:ea typeface="TT Fors"/>
                <a:cs typeface="TT Fors"/>
                <a:sym typeface="TT Fors"/>
              </a:rPr>
              <a:t>e(), you can write your own number validation function</a:t>
            </a:r>
          </a:p>
          <a:p>
            <a:pPr algn="just">
              <a:lnSpc>
                <a:spcPts val="3919"/>
              </a:lnSpc>
            </a:pPr>
          </a:p>
          <a:p>
            <a:pPr algn="just">
              <a:lnSpc>
                <a:spcPts val="3919"/>
              </a:lnSpc>
            </a:pPr>
          </a:p>
          <a:p>
            <a:pPr algn="just">
              <a:lnSpc>
                <a:spcPts val="3919"/>
              </a:lnSpc>
            </a:pPr>
          </a:p>
          <a:p>
            <a:pPr algn="just">
              <a:lnSpc>
                <a:spcPts val="3919"/>
              </a:lnSpc>
            </a:pP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forms in javascript</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5.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266750" y="4170864"/>
            <a:ext cx="12267142" cy="2372919"/>
          </a:xfrm>
          <a:custGeom>
            <a:avLst/>
            <a:gdLst/>
            <a:ahLst/>
            <a:cxnLst/>
            <a:rect r="r" b="b" t="t" l="l"/>
            <a:pathLst>
              <a:path h="2372919" w="12267142">
                <a:moveTo>
                  <a:pt x="0" y="0"/>
                </a:moveTo>
                <a:lnTo>
                  <a:pt x="12267142" y="0"/>
                </a:lnTo>
                <a:lnTo>
                  <a:pt x="12267142" y="2372918"/>
                </a:lnTo>
                <a:lnTo>
                  <a:pt x="0" y="2372918"/>
                </a:lnTo>
                <a:lnTo>
                  <a:pt x="0" y="0"/>
                </a:lnTo>
                <a:close/>
              </a:path>
            </a:pathLst>
          </a:custGeom>
          <a:blipFill>
            <a:blip r:embed="rId4"/>
            <a:stretch>
              <a:fillRect l="0" t="0" r="0" b="0"/>
            </a:stretch>
          </a:blipFill>
        </p:spPr>
      </p:sp>
      <p:sp>
        <p:nvSpPr>
          <p:cNvPr name="TextBox 5" id="5"/>
          <p:cNvSpPr txBox="true"/>
          <p:nvPr/>
        </p:nvSpPr>
        <p:spPr>
          <a:xfrm rot="0">
            <a:off x="1028700" y="1656922"/>
            <a:ext cx="8371621"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forms in javascript</a:t>
            </a:r>
          </a:p>
        </p:txBody>
      </p:sp>
    </p:spTree>
  </p:cSld>
  <p:clrMapOvr>
    <a:masterClrMapping/>
  </p:clrMapOvr>
</p:sld>
</file>

<file path=ppt/slides/slide86.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4939300"/>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Submitting Forms</a:t>
            </a:r>
          </a:p>
          <a:p>
            <a:pPr algn="just">
              <a:lnSpc>
                <a:spcPts val="3919"/>
              </a:lnSpc>
            </a:pPr>
          </a:p>
          <a:p>
            <a:pPr algn="just">
              <a:lnSpc>
                <a:spcPts val="3919"/>
              </a:lnSpc>
            </a:pPr>
            <a:r>
              <a:rPr lang="en-US" sz="2799">
                <a:solidFill>
                  <a:srgbClr val="272727"/>
                </a:solidFill>
                <a:latin typeface="TT Fors"/>
                <a:ea typeface="TT Fors"/>
                <a:cs typeface="TT Fors"/>
                <a:sym typeface="TT Fors"/>
              </a:rPr>
              <a:t>Submitt</a:t>
            </a:r>
            <a:r>
              <a:rPr lang="en-US" sz="2799">
                <a:solidFill>
                  <a:srgbClr val="272727"/>
                </a:solidFill>
                <a:latin typeface="TT Fors"/>
                <a:ea typeface="TT Fors"/>
                <a:cs typeface="TT Fors"/>
                <a:sym typeface="TT Fors"/>
              </a:rPr>
              <a:t>ing a form using JavaScript requires having</a:t>
            </a:r>
            <a:r>
              <a:rPr lang="en-US" sz="2799">
                <a:solidFill>
                  <a:srgbClr val="272727"/>
                </a:solidFill>
                <a:latin typeface="TT Fors"/>
                <a:ea typeface="TT Fors"/>
                <a:cs typeface="TT Fors"/>
                <a:sym typeface="TT Fors"/>
              </a:rPr>
              <a:t> a node variable for the form element</a:t>
            </a:r>
          </a:p>
          <a:p>
            <a:pPr algn="just">
              <a:lnSpc>
                <a:spcPts val="3919"/>
              </a:lnSpc>
            </a:pPr>
          </a:p>
          <a:p>
            <a:pPr algn="just">
              <a:lnSpc>
                <a:spcPts val="3919"/>
              </a:lnSpc>
            </a:pPr>
          </a:p>
          <a:p>
            <a:pPr algn="just">
              <a:lnSpc>
                <a:spcPts val="3919"/>
              </a:lnSpc>
            </a:pPr>
          </a:p>
          <a:p>
            <a:pPr algn="just">
              <a:lnSpc>
                <a:spcPts val="3919"/>
              </a:lnSpc>
            </a:pPr>
          </a:p>
          <a:p>
            <a:pPr algn="just">
              <a:lnSpc>
                <a:spcPts val="3919"/>
              </a:lnSpc>
            </a:pP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forms in javascript</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7.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295900" y="4428941"/>
            <a:ext cx="11696201" cy="1429118"/>
          </a:xfrm>
          <a:custGeom>
            <a:avLst/>
            <a:gdLst/>
            <a:ahLst/>
            <a:cxnLst/>
            <a:rect r="r" b="b" t="t" l="l"/>
            <a:pathLst>
              <a:path h="1429118" w="11696201">
                <a:moveTo>
                  <a:pt x="0" y="0"/>
                </a:moveTo>
                <a:lnTo>
                  <a:pt x="11696200" y="0"/>
                </a:lnTo>
                <a:lnTo>
                  <a:pt x="11696200" y="1429118"/>
                </a:lnTo>
                <a:lnTo>
                  <a:pt x="0" y="1429118"/>
                </a:lnTo>
                <a:lnTo>
                  <a:pt x="0" y="0"/>
                </a:lnTo>
                <a:close/>
              </a:path>
            </a:pathLst>
          </a:custGeom>
          <a:blipFill>
            <a:blip r:embed="rId4"/>
            <a:stretch>
              <a:fillRect l="0" t="0" r="0" b="0"/>
            </a:stretch>
          </a:blipFill>
        </p:spPr>
      </p:sp>
      <p:sp>
        <p:nvSpPr>
          <p:cNvPr name="TextBox 5" id="5"/>
          <p:cNvSpPr txBox="true"/>
          <p:nvPr/>
        </p:nvSpPr>
        <p:spPr>
          <a:xfrm rot="0">
            <a:off x="1028700" y="1656922"/>
            <a:ext cx="8371621"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forms in javascript</a:t>
            </a:r>
          </a:p>
        </p:txBody>
      </p:sp>
    </p:spTree>
  </p:cSld>
  <p:clrMapOvr>
    <a:masterClrMapping/>
  </p:clrMapOvr>
</p:sld>
</file>

<file path=ppt/slides/slide88.xml><?xml version="1.0" encoding="utf-8"?>
<p:sld xmlns:p="http://schemas.openxmlformats.org/presentationml/2006/main" xmlns:a="http://schemas.openxmlformats.org/drawingml/2006/main" xmlns:r="http://schemas.openxmlformats.org/officeDocument/2006/relationships">
  <p:cSld>
    <p:bg>
      <p:bgPr>
        <a:solidFill>
          <a:srgbClr val="1F5014"/>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97719" y="-3719573"/>
            <a:ext cx="11892632" cy="17726146"/>
          </a:xfrm>
          <a:custGeom>
            <a:avLst/>
            <a:gdLst/>
            <a:ahLst/>
            <a:cxnLst/>
            <a:rect r="r" b="b" t="t" l="l"/>
            <a:pathLst>
              <a:path h="17726146" w="11892632">
                <a:moveTo>
                  <a:pt x="0" y="0"/>
                </a:moveTo>
                <a:lnTo>
                  <a:pt x="11892632" y="0"/>
                </a:lnTo>
                <a:lnTo>
                  <a:pt x="11892632" y="17726146"/>
                </a:lnTo>
                <a:lnTo>
                  <a:pt x="0" y="17726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402835"/>
            <a:ext cx="7882760" cy="1728981"/>
          </a:xfrm>
          <a:prstGeom prst="rect">
            <a:avLst/>
          </a:prstGeom>
        </p:spPr>
        <p:txBody>
          <a:bodyPr anchor="t" rtlCol="false" tIns="0" lIns="0" bIns="0" rIns="0">
            <a:spAutoFit/>
          </a:bodyPr>
          <a:lstStyle/>
          <a:p>
            <a:pPr algn="l">
              <a:lnSpc>
                <a:spcPts val="12846"/>
              </a:lnSpc>
            </a:pPr>
            <a:r>
              <a:rPr lang="en-US" sz="12976" spc="-259" b="true">
                <a:solidFill>
                  <a:srgbClr val="F6F6E9"/>
                </a:solidFill>
                <a:latin typeface="Bebas Neue Bold"/>
                <a:ea typeface="Bebas Neue Bold"/>
                <a:cs typeface="Bebas Neue Bold"/>
                <a:sym typeface="Bebas Neue Bold"/>
              </a:rPr>
              <a:t>regex</a:t>
            </a:r>
          </a:p>
        </p:txBody>
      </p:sp>
      <p:grpSp>
        <p:nvGrpSpPr>
          <p:cNvPr name="Group 4" id="4"/>
          <p:cNvGrpSpPr/>
          <p:nvPr/>
        </p:nvGrpSpPr>
        <p:grpSpPr>
          <a:xfrm rot="0">
            <a:off x="9665183" y="1028700"/>
            <a:ext cx="8229600" cy="822960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9B76"/>
            </a:solidFill>
          </p:spPr>
        </p:sp>
        <p:sp>
          <p:nvSpPr>
            <p:cNvPr name="TextBox 6" id="6"/>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7" id="7"/>
          <p:cNvGrpSpPr/>
          <p:nvPr/>
        </p:nvGrpSpPr>
        <p:grpSpPr>
          <a:xfrm rot="0">
            <a:off x="10227481" y="1590998"/>
            <a:ext cx="7105005" cy="7105005"/>
            <a:chOff x="0" y="0"/>
            <a:chExt cx="812800" cy="812800"/>
          </a:xfrm>
        </p:grpSpPr>
        <p:sp>
          <p:nvSpPr>
            <p:cNvPr name="Freeform 8" id="8"/>
            <p:cNvSpPr/>
            <p:nvPr/>
          </p:nvSpPr>
          <p:spPr>
            <a:xfrm flipH="true" flipV="false" rot="0">
              <a:off x="0" y="0"/>
              <a:ext cx="812800" cy="812800"/>
            </a:xfrm>
            <a:custGeom>
              <a:avLst/>
              <a:gdLst/>
              <a:ahLst/>
              <a:cxnLst/>
              <a:rect r="r" b="b" t="t" l="l"/>
              <a:pathLst>
                <a:path h="812800" w="812800">
                  <a:moveTo>
                    <a:pt x="406400" y="0"/>
                  </a:moveTo>
                  <a:cubicBezTo>
                    <a:pt x="630849" y="0"/>
                    <a:pt x="812800" y="181951"/>
                    <a:pt x="812800" y="406400"/>
                  </a:cubicBezTo>
                  <a:cubicBezTo>
                    <a:pt x="812800" y="630849"/>
                    <a:pt x="630849" y="812800"/>
                    <a:pt x="406400" y="812800"/>
                  </a:cubicBezTo>
                  <a:cubicBezTo>
                    <a:pt x="181951" y="812800"/>
                    <a:pt x="0" y="630849"/>
                    <a:pt x="0" y="406400"/>
                  </a:cubicBezTo>
                  <a:cubicBezTo>
                    <a:pt x="0" y="181951"/>
                    <a:pt x="181951" y="0"/>
                    <a:pt x="406400" y="0"/>
                  </a:cubicBezTo>
                  <a:close/>
                </a:path>
              </a:pathLst>
            </a:custGeom>
            <a:blipFill>
              <a:blip r:embed="rId4"/>
              <a:stretch>
                <a:fillRect l="0" t="0" r="-50000" b="0"/>
              </a:stretch>
            </a:blipFill>
            <a:ln w="238125" cap="sq">
              <a:solidFill>
                <a:srgbClr val="262262"/>
              </a:solidFill>
              <a:prstDash val="solid"/>
              <a:miter/>
            </a:ln>
          </p:spPr>
        </p:sp>
      </p:grpSp>
    </p:spTree>
  </p:cSld>
  <p:clrMapOvr>
    <a:masterClrMapping/>
  </p:clrMapOvr>
</p:sld>
</file>

<file path=ppt/slides/slide89.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4443973"/>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A regular expression is a set of</a:t>
            </a:r>
            <a:r>
              <a:rPr lang="en-US" sz="2799">
                <a:solidFill>
                  <a:srgbClr val="272727"/>
                </a:solidFill>
                <a:latin typeface="TT Fors"/>
                <a:ea typeface="TT Fors"/>
                <a:cs typeface="TT Fors"/>
                <a:sym typeface="TT Fors"/>
              </a:rPr>
              <a:t> special characters that define a pattern. They are intended for the matching and manipulation of text.</a:t>
            </a:r>
          </a:p>
          <a:p>
            <a:pPr algn="just">
              <a:lnSpc>
                <a:spcPts val="3919"/>
              </a:lnSpc>
            </a:pPr>
          </a:p>
          <a:p>
            <a:pPr algn="just">
              <a:lnSpc>
                <a:spcPts val="3919"/>
              </a:lnSpc>
            </a:pPr>
            <a:r>
              <a:rPr lang="en-US" sz="2799">
                <a:solidFill>
                  <a:srgbClr val="272727"/>
                </a:solidFill>
                <a:latin typeface="TT Fors"/>
                <a:ea typeface="TT Fors"/>
                <a:cs typeface="TT Fors"/>
                <a:sym typeface="TT Fors"/>
              </a:rPr>
              <a:t>In web development they are commonly used to test whether a user’s input matches a predictable sequence of characters, such as those in a phone number, postal or zip code, or email address</a:t>
            </a: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regular expressions</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90.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4939300"/>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Regular expressions are a concise way to</a:t>
            </a:r>
            <a:r>
              <a:rPr lang="en-US" sz="2799">
                <a:solidFill>
                  <a:srgbClr val="272727"/>
                </a:solidFill>
                <a:latin typeface="TT Fors"/>
                <a:ea typeface="TT Fors"/>
                <a:cs typeface="TT Fors"/>
                <a:sym typeface="TT Fors"/>
              </a:rPr>
              <a:t> eliminate the conditional logic that would be necessary to ensure that input data follows a specific format.</a:t>
            </a:r>
          </a:p>
          <a:p>
            <a:pPr algn="just">
              <a:lnSpc>
                <a:spcPts val="3919"/>
              </a:lnSpc>
            </a:pPr>
          </a:p>
          <a:p>
            <a:pPr algn="just">
              <a:lnSpc>
                <a:spcPts val="3919"/>
              </a:lnSpc>
            </a:pPr>
            <a:r>
              <a:rPr lang="en-US" sz="2799">
                <a:solidFill>
                  <a:srgbClr val="272727"/>
                </a:solidFill>
                <a:latin typeface="TT Fors"/>
                <a:ea typeface="TT Fors"/>
                <a:cs typeface="TT Fors"/>
                <a:sym typeface="TT Fors"/>
              </a:rPr>
              <a:t>A regular expression consists of two types of characters: literals and metacharacters. A literal is just a character you wish to match in the target (i.e., the text that you are searching within). A metacharacter is a special symbol that acts as a command to the regular expression parser</a:t>
            </a: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regular expressions</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91.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530941" y="1542622"/>
            <a:ext cx="11728359" cy="8340766"/>
          </a:xfrm>
          <a:custGeom>
            <a:avLst/>
            <a:gdLst/>
            <a:ahLst/>
            <a:cxnLst/>
            <a:rect r="r" b="b" t="t" l="l"/>
            <a:pathLst>
              <a:path h="8340766" w="11728359">
                <a:moveTo>
                  <a:pt x="0" y="0"/>
                </a:moveTo>
                <a:lnTo>
                  <a:pt x="11728359" y="0"/>
                </a:lnTo>
                <a:lnTo>
                  <a:pt x="11728359" y="8340765"/>
                </a:lnTo>
                <a:lnTo>
                  <a:pt x="0" y="8340765"/>
                </a:lnTo>
                <a:lnTo>
                  <a:pt x="0" y="0"/>
                </a:lnTo>
                <a:close/>
              </a:path>
            </a:pathLst>
          </a:custGeom>
          <a:blipFill>
            <a:blip r:embed="rId4"/>
            <a:stretch>
              <a:fillRect l="0" t="0" r="0" b="0"/>
            </a:stretch>
          </a:blipFill>
        </p:spPr>
      </p:sp>
      <p:sp>
        <p:nvSpPr>
          <p:cNvPr name="TextBox 5" id="5"/>
          <p:cNvSpPr txBox="true"/>
          <p:nvPr/>
        </p:nvSpPr>
        <p:spPr>
          <a:xfrm rot="0">
            <a:off x="1028700" y="1656922"/>
            <a:ext cx="8371621"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regex</a:t>
            </a:r>
          </a:p>
        </p:txBody>
      </p:sp>
    </p:spTree>
  </p:cSld>
  <p:clrMapOvr>
    <a:masterClrMapping/>
  </p:clrMapOvr>
</p:sld>
</file>

<file path=ppt/slides/slide92.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322180" y="685366"/>
            <a:ext cx="10937120" cy="7082874"/>
          </a:xfrm>
          <a:custGeom>
            <a:avLst/>
            <a:gdLst/>
            <a:ahLst/>
            <a:cxnLst/>
            <a:rect r="r" b="b" t="t" l="l"/>
            <a:pathLst>
              <a:path h="7082874" w="10937120">
                <a:moveTo>
                  <a:pt x="0" y="0"/>
                </a:moveTo>
                <a:lnTo>
                  <a:pt x="10937120" y="0"/>
                </a:lnTo>
                <a:lnTo>
                  <a:pt x="10937120" y="7082874"/>
                </a:lnTo>
                <a:lnTo>
                  <a:pt x="0" y="7082874"/>
                </a:lnTo>
                <a:lnTo>
                  <a:pt x="0" y="0"/>
                </a:lnTo>
                <a:close/>
              </a:path>
            </a:pathLst>
          </a:custGeom>
          <a:blipFill>
            <a:blip r:embed="rId4"/>
            <a:stretch>
              <a:fillRect l="0" t="0" r="0" b="0"/>
            </a:stretch>
          </a:blipFill>
        </p:spPr>
      </p:sp>
      <p:sp>
        <p:nvSpPr>
          <p:cNvPr name="Freeform 5" id="5"/>
          <p:cNvSpPr/>
          <p:nvPr/>
        </p:nvSpPr>
        <p:spPr>
          <a:xfrm flipH="false" flipV="false" rot="0">
            <a:off x="4994446" y="8250880"/>
            <a:ext cx="12264854" cy="1378074"/>
          </a:xfrm>
          <a:custGeom>
            <a:avLst/>
            <a:gdLst/>
            <a:ahLst/>
            <a:cxnLst/>
            <a:rect r="r" b="b" t="t" l="l"/>
            <a:pathLst>
              <a:path h="1378074" w="12264854">
                <a:moveTo>
                  <a:pt x="0" y="0"/>
                </a:moveTo>
                <a:lnTo>
                  <a:pt x="12264854" y="0"/>
                </a:lnTo>
                <a:lnTo>
                  <a:pt x="12264854" y="1378074"/>
                </a:lnTo>
                <a:lnTo>
                  <a:pt x="0" y="1378074"/>
                </a:lnTo>
                <a:lnTo>
                  <a:pt x="0" y="0"/>
                </a:lnTo>
                <a:close/>
              </a:path>
            </a:pathLst>
          </a:custGeom>
          <a:blipFill>
            <a:blip r:embed="rId5"/>
            <a:stretch>
              <a:fillRect l="0" t="0" r="0" b="0"/>
            </a:stretch>
          </a:blipFill>
        </p:spPr>
      </p:sp>
      <p:sp>
        <p:nvSpPr>
          <p:cNvPr name="TextBox 6" id="6"/>
          <p:cNvSpPr txBox="true"/>
          <p:nvPr/>
        </p:nvSpPr>
        <p:spPr>
          <a:xfrm rot="0">
            <a:off x="1028700" y="1656922"/>
            <a:ext cx="8371621"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regex</a:t>
            </a:r>
          </a:p>
        </p:txBody>
      </p:sp>
    </p:spTree>
  </p:cSld>
  <p:clrMapOvr>
    <a:masterClrMapping/>
  </p:clrMapOvr>
</p:sld>
</file>

<file path=ppt/slides/slide93.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432109"/>
            <a:ext cx="9779381" cy="2462665"/>
          </a:xfrm>
          <a:prstGeom prst="rect">
            <a:avLst/>
          </a:prstGeom>
        </p:spPr>
        <p:txBody>
          <a:bodyPr anchor="t" rtlCol="false" tIns="0" lIns="0" bIns="0" rIns="0">
            <a:spAutoFit/>
          </a:bodyPr>
          <a:lstStyle/>
          <a:p>
            <a:pPr algn="just">
              <a:lnSpc>
                <a:spcPts val="3919"/>
              </a:lnSpc>
            </a:pPr>
            <a:r>
              <a:rPr lang="en-US" sz="2799">
                <a:solidFill>
                  <a:srgbClr val="272727"/>
                </a:solidFill>
                <a:latin typeface="TT Fors"/>
                <a:ea typeface="TT Fors"/>
                <a:cs typeface="TT Fors"/>
                <a:sym typeface="TT Fors"/>
              </a:rPr>
              <a:t>let pattern = /ran/;</a:t>
            </a:r>
          </a:p>
          <a:p>
            <a:pPr algn="just">
              <a:lnSpc>
                <a:spcPts val="3919"/>
              </a:lnSpc>
            </a:pPr>
            <a:r>
              <a:rPr lang="en-US" sz="2799">
                <a:solidFill>
                  <a:srgbClr val="272727"/>
                </a:solidFill>
                <a:latin typeface="TT Fors"/>
                <a:ea typeface="TT Fors"/>
                <a:cs typeface="TT Fors"/>
                <a:sym typeface="TT Fors"/>
              </a:rPr>
              <a:t>let content = 'Sue ran to the store';</a:t>
            </a:r>
          </a:p>
          <a:p>
            <a:pPr algn="just">
              <a:lnSpc>
                <a:spcPts val="3919"/>
              </a:lnSpc>
            </a:pPr>
            <a:r>
              <a:rPr lang="en-US" sz="2799">
                <a:solidFill>
                  <a:srgbClr val="272727"/>
                </a:solidFill>
                <a:latin typeface="TT Fors"/>
                <a:ea typeface="TT Fors"/>
                <a:cs typeface="TT Fors"/>
                <a:sym typeface="TT Fors"/>
              </a:rPr>
              <a:t>if (pattern.test(content))</a:t>
            </a:r>
          </a:p>
          <a:p>
            <a:pPr algn="just">
              <a:lnSpc>
                <a:spcPts val="3919"/>
              </a:lnSpc>
            </a:pPr>
            <a:r>
              <a:rPr lang="en-US" sz="2799">
                <a:solidFill>
                  <a:srgbClr val="272727"/>
                </a:solidFill>
                <a:latin typeface="TT Fors"/>
                <a:ea typeface="TT Fors"/>
                <a:cs typeface="TT Fors"/>
                <a:sym typeface="TT Fors"/>
              </a:rPr>
              <a:t> console.log("Match found");</a:t>
            </a:r>
          </a:p>
          <a:p>
            <a:pPr algn="just">
              <a:lnSpc>
                <a:spcPts val="3919"/>
              </a:lnSpc>
            </a:pPr>
          </a:p>
        </p:txBody>
      </p:sp>
      <p:sp>
        <p:nvSpPr>
          <p:cNvPr name="TextBox 9" id="9"/>
          <p:cNvSpPr txBox="true"/>
          <p:nvPr/>
        </p:nvSpPr>
        <p:spPr>
          <a:xfrm rot="0">
            <a:off x="7479919" y="3525710"/>
            <a:ext cx="9779381" cy="895785"/>
          </a:xfrm>
          <a:prstGeom prst="rect">
            <a:avLst/>
          </a:prstGeom>
        </p:spPr>
        <p:txBody>
          <a:bodyPr anchor="t" rtlCol="false" tIns="0" lIns="0" bIns="0" rIns="0">
            <a:spAutoFit/>
          </a:bodyPr>
          <a:lstStyle/>
          <a:p>
            <a:pPr algn="l">
              <a:lnSpc>
                <a:spcPts val="6732"/>
              </a:lnSpc>
            </a:pPr>
            <a:r>
              <a:rPr lang="en-US" sz="6800" spc="-136" b="true">
                <a:solidFill>
                  <a:srgbClr val="272727"/>
                </a:solidFill>
                <a:latin typeface="Bebas Neue Bold"/>
                <a:ea typeface="Bebas Neue Bold"/>
                <a:cs typeface="Bebas Neue Bold"/>
                <a:sym typeface="Bebas Neue Bold"/>
              </a:rPr>
              <a:t>regular expressions</a:t>
            </a: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94.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507578" y="1542622"/>
            <a:ext cx="11751722" cy="6005340"/>
          </a:xfrm>
          <a:custGeom>
            <a:avLst/>
            <a:gdLst/>
            <a:ahLst/>
            <a:cxnLst/>
            <a:rect r="r" b="b" t="t" l="l"/>
            <a:pathLst>
              <a:path h="6005340" w="11751722">
                <a:moveTo>
                  <a:pt x="0" y="0"/>
                </a:moveTo>
                <a:lnTo>
                  <a:pt x="11751722" y="0"/>
                </a:lnTo>
                <a:lnTo>
                  <a:pt x="11751722" y="6005339"/>
                </a:lnTo>
                <a:lnTo>
                  <a:pt x="0" y="6005339"/>
                </a:lnTo>
                <a:lnTo>
                  <a:pt x="0" y="0"/>
                </a:lnTo>
                <a:close/>
              </a:path>
            </a:pathLst>
          </a:custGeom>
          <a:blipFill>
            <a:blip r:embed="rId4"/>
            <a:stretch>
              <a:fillRect l="0" t="0" r="0" b="0"/>
            </a:stretch>
          </a:blipFill>
        </p:spPr>
      </p:sp>
      <p:sp>
        <p:nvSpPr>
          <p:cNvPr name="TextBox 5" id="5"/>
          <p:cNvSpPr txBox="true"/>
          <p:nvPr/>
        </p:nvSpPr>
        <p:spPr>
          <a:xfrm rot="0">
            <a:off x="1028700" y="1656922"/>
            <a:ext cx="8371621"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regex</a:t>
            </a:r>
          </a:p>
        </p:txBody>
      </p:sp>
    </p:spTree>
  </p:cSld>
  <p:clrMapOvr>
    <a:masterClrMapping/>
  </p:clrMapOvr>
</p:sld>
</file>

<file path=ppt/slides/slide95.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034760" y="1542622"/>
            <a:ext cx="11822452" cy="5989720"/>
          </a:xfrm>
          <a:custGeom>
            <a:avLst/>
            <a:gdLst/>
            <a:ahLst/>
            <a:cxnLst/>
            <a:rect r="r" b="b" t="t" l="l"/>
            <a:pathLst>
              <a:path h="5989720" w="11822452">
                <a:moveTo>
                  <a:pt x="0" y="0"/>
                </a:moveTo>
                <a:lnTo>
                  <a:pt x="11822452" y="0"/>
                </a:lnTo>
                <a:lnTo>
                  <a:pt x="11822452" y="5989720"/>
                </a:lnTo>
                <a:lnTo>
                  <a:pt x="0" y="5989720"/>
                </a:lnTo>
                <a:lnTo>
                  <a:pt x="0" y="0"/>
                </a:lnTo>
                <a:close/>
              </a:path>
            </a:pathLst>
          </a:custGeom>
          <a:blipFill>
            <a:blip r:embed="rId4"/>
            <a:stretch>
              <a:fillRect l="0" t="0" r="0" b="0"/>
            </a:stretch>
          </a:blipFill>
        </p:spPr>
      </p:sp>
      <p:sp>
        <p:nvSpPr>
          <p:cNvPr name="TextBox 5" id="5"/>
          <p:cNvSpPr txBox="true"/>
          <p:nvPr/>
        </p:nvSpPr>
        <p:spPr>
          <a:xfrm rot="0">
            <a:off x="1028700" y="1656922"/>
            <a:ext cx="8371621" cy="914835"/>
          </a:xfrm>
          <a:prstGeom prst="rect">
            <a:avLst/>
          </a:prstGeom>
        </p:spPr>
        <p:txBody>
          <a:bodyPr anchor="t" rtlCol="false" tIns="0" lIns="0" bIns="0" rIns="0">
            <a:spAutoFit/>
          </a:bodyPr>
          <a:lstStyle/>
          <a:p>
            <a:pPr algn="l">
              <a:lnSpc>
                <a:spcPts val="6731"/>
              </a:lnSpc>
            </a:pPr>
            <a:r>
              <a:rPr lang="en-US" sz="6799" spc="-135" b="true">
                <a:solidFill>
                  <a:srgbClr val="272727"/>
                </a:solidFill>
                <a:latin typeface="Bebas Neue Bold"/>
                <a:ea typeface="Bebas Neue Bold"/>
                <a:cs typeface="Bebas Neue Bold"/>
                <a:sym typeface="Bebas Neue Bold"/>
              </a:rPr>
              <a:t>regex</a:t>
            </a:r>
          </a:p>
        </p:txBody>
      </p:sp>
    </p:spTree>
  </p:cSld>
  <p:clrMapOvr>
    <a:masterClrMapping/>
  </p:clrMapOvr>
</p:sld>
</file>

<file path=ppt/slides/slide96.xml><?xml version="1.0" encoding="utf-8"?>
<p:sld xmlns:p="http://schemas.openxmlformats.org/presentationml/2006/main" xmlns:a="http://schemas.openxmlformats.org/drawingml/2006/main" xmlns:r="http://schemas.openxmlformats.org/officeDocument/2006/relationships">
  <p:cSld>
    <p:bg>
      <p:bgPr>
        <a:solidFill>
          <a:srgbClr val="CBDDD1"/>
        </a:solidFill>
      </p:bgPr>
    </p:bg>
    <p:spTree>
      <p:nvGrpSpPr>
        <p:cNvPr id="1" name=""/>
        <p:cNvGrpSpPr/>
        <p:nvPr/>
      </p:nvGrpSpPr>
      <p:grpSpPr>
        <a:xfrm>
          <a:off x="0" y="0"/>
          <a:ext cx="0" cy="0"/>
          <a:chOff x="0" y="0"/>
          <a:chExt cx="0" cy="0"/>
        </a:xfrm>
      </p:grpSpPr>
      <p:sp>
        <p:nvSpPr>
          <p:cNvPr name="TextBox 2" id="2"/>
          <p:cNvSpPr txBox="true"/>
          <p:nvPr/>
        </p:nvSpPr>
        <p:spPr>
          <a:xfrm rot="0">
            <a:off x="1028700" y="2946346"/>
            <a:ext cx="8605034" cy="2160631"/>
          </a:xfrm>
          <a:prstGeom prst="rect">
            <a:avLst/>
          </a:prstGeom>
        </p:spPr>
        <p:txBody>
          <a:bodyPr anchor="t" rtlCol="false" tIns="0" lIns="0" bIns="0" rIns="0">
            <a:spAutoFit/>
          </a:bodyPr>
          <a:lstStyle/>
          <a:p>
            <a:pPr algn="l">
              <a:lnSpc>
                <a:spcPts val="15973"/>
              </a:lnSpc>
            </a:pPr>
            <a:r>
              <a:rPr lang="en-US" b="true" sz="16134" spc="-322">
                <a:solidFill>
                  <a:srgbClr val="121212"/>
                </a:solidFill>
                <a:latin typeface="Bebas Neue Bold"/>
                <a:ea typeface="Bebas Neue Bold"/>
                <a:cs typeface="Bebas Neue Bold"/>
                <a:sym typeface="Bebas Neue Bold"/>
              </a:rPr>
              <a:t>Thank you</a:t>
            </a:r>
          </a:p>
        </p:txBody>
      </p:sp>
      <p:sp>
        <p:nvSpPr>
          <p:cNvPr name="Freeform 3" id="3"/>
          <p:cNvSpPr/>
          <p:nvPr/>
        </p:nvSpPr>
        <p:spPr>
          <a:xfrm flipH="false" flipV="false" rot="0">
            <a:off x="9665183" y="-1364650"/>
            <a:ext cx="8732754" cy="13016300"/>
          </a:xfrm>
          <a:custGeom>
            <a:avLst/>
            <a:gdLst/>
            <a:ahLst/>
            <a:cxnLst/>
            <a:rect r="r" b="b" t="t" l="l"/>
            <a:pathLst>
              <a:path h="13016300" w="8732754">
                <a:moveTo>
                  <a:pt x="0" y="0"/>
                </a:moveTo>
                <a:lnTo>
                  <a:pt x="8732754" y="0"/>
                </a:lnTo>
                <a:lnTo>
                  <a:pt x="8732754"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9916760" y="1028700"/>
            <a:ext cx="8229600" cy="822960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2727"/>
            </a:solidFill>
          </p:spPr>
        </p:sp>
        <p:sp>
          <p:nvSpPr>
            <p:cNvPr name="TextBox 6" id="6"/>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7" id="7"/>
          <p:cNvGrpSpPr/>
          <p:nvPr/>
        </p:nvGrpSpPr>
        <p:grpSpPr>
          <a:xfrm rot="0">
            <a:off x="10479057" y="1590998"/>
            <a:ext cx="7105005" cy="710500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7032" t="-20814" r="-53963" b="0"/>
              </a:stretch>
            </a:blipFill>
            <a:ln w="238125" cap="sq">
              <a:solidFill>
                <a:srgbClr val="262262"/>
              </a:solidFill>
              <a:prstDash val="solid"/>
              <a:miter/>
            </a:ln>
          </p:spPr>
        </p:sp>
      </p:grpSp>
      <p:sp>
        <p:nvSpPr>
          <p:cNvPr name="Freeform 9" id="9"/>
          <p:cNvSpPr/>
          <p:nvPr/>
        </p:nvSpPr>
        <p:spPr>
          <a:xfrm flipH="false" flipV="false" rot="0">
            <a:off x="4502700" y="-4791631"/>
            <a:ext cx="4598385" cy="6853961"/>
          </a:xfrm>
          <a:custGeom>
            <a:avLst/>
            <a:gdLst/>
            <a:ahLst/>
            <a:cxnLst/>
            <a:rect r="r" b="b" t="t" l="l"/>
            <a:pathLst>
              <a:path h="6853961" w="4598385">
                <a:moveTo>
                  <a:pt x="0" y="0"/>
                </a:moveTo>
                <a:lnTo>
                  <a:pt x="4598385" y="0"/>
                </a:lnTo>
                <a:lnTo>
                  <a:pt x="4598385" y="6853962"/>
                </a:lnTo>
                <a:lnTo>
                  <a:pt x="0" y="68539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6343591" y="8957310"/>
            <a:ext cx="3321592" cy="4950883"/>
          </a:xfrm>
          <a:custGeom>
            <a:avLst/>
            <a:gdLst/>
            <a:ahLst/>
            <a:cxnLst/>
            <a:rect r="r" b="b" t="t" l="l"/>
            <a:pathLst>
              <a:path h="4950883" w="3321592">
                <a:moveTo>
                  <a:pt x="0" y="0"/>
                </a:moveTo>
                <a:lnTo>
                  <a:pt x="3321592" y="0"/>
                </a:lnTo>
                <a:lnTo>
                  <a:pt x="3321592" y="4950883"/>
                </a:lnTo>
                <a:lnTo>
                  <a:pt x="0" y="49508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DAHUNvbxc2M</dc:identifier>
  <dcterms:modified xsi:type="dcterms:W3CDTF">2011-08-01T06:04:30Z</dcterms:modified>
  <cp:revision>1</cp:revision>
  <dc:title>[ITE41] LAB05: Using JavaScript</dc:title>
</cp:coreProperties>
</file>